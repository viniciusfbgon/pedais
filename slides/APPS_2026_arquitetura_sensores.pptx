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c039850f-8b5f-b790-4d68-8515d2f87026}">
          <p14:sldIdLst>
            <p14:sldId id="256"/>
            <p14:sldId id="257"/>
          </p14:sldIdLst>
        </p14:section>
        <p14:section name="Regulamento" id="{20478633-003f-ae98-f7dc-35008f2a5a99}">
          <p14:sldIdLst>
            <p14:sldId id="258"/>
          </p14:sldIdLst>
        </p14:section>
        <p14:section name="Arquitetura A — potenciômetro linear" id="{0d50089e-9a64-4457-ffcb-3ea4cae84773}">
          <p14:sldIdLst>
            <p14:sldId id="259"/>
            <p14:sldId id="260"/>
          </p14:sldIdLst>
        </p14:section>
        <p14:section name="Arquitetura B — sensor Hall" id="{0f8fe474-f2e0-e824-5d49-c940f06df110}">
          <p14:sldIdLst>
            <p14:sldId id="261"/>
            <p14:sldId id="262"/>
          </p14:sldIdLst>
        </p14:section>
        <p14:section name="Comparação" id="{d334def6-51a2-5b12-1c57-53c4864c06c4}">
          <p14:sldIdLst>
            <p14:sldId id="263"/>
            <p14:sldId id="264"/>
            <p14:sldId id="265"/>
            <p14:sldId id="266"/>
            <p14:sldId id="267"/>
          </p14:sldIdLst>
        </p14:section>
        <p14:section name="Próximos passos" id="{4f615ded-0b58-a98e-f5d1-fc484cd84a50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809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8093A"/>
                </a:solidFill>
                <a:latin typeface="+mn-lt"/>
              </a:rPr>
              <a:t>Saída de cada sensor (V)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APPS 1</c:v>
                </c:pt>
              </c:strCache>
            </c:strRef>
          </c:tx>
          <c:spPr>
            <a:solidFill>
              <a:srgbClr val="D0313A"/>
            </a:solidFill>
            <a:ln w="31750" cap="flat">
              <a:solidFill>
                <a:srgbClr val="D031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0313A"/>
              </a:solidFill>
              <a:ln w="9525" cap="flat">
                <a:solidFill>
                  <a:srgbClr val="D031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>25</c:v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>50</c:v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>75</c:v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100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1.3</c:v>
                </c:pt>
                <c:pt idx="1">
                  <c:v>1.45</c:v>
                </c:pt>
                <c:pt idx="2">
                  <c:v>1.6</c:v>
                </c:pt>
                <c:pt idx="3">
                  <c:v>1.75</c:v>
                </c:pt>
                <c:pt idx="4">
                  <c:v>1.9</c:v>
                </c:pt>
                <c:pt idx="5">
                  <c:v>2.05</c:v>
                </c:pt>
                <c:pt idx="6">
                  <c:v>2.2</c:v>
                </c:pt>
                <c:pt idx="7">
                  <c:v>2.35</c:v>
                </c:pt>
                <c:pt idx="8">
                  <c:v>2.5</c:v>
                </c:pt>
                <c:pt idx="9">
                  <c:v>2.65</c:v>
                </c:pt>
                <c:pt idx="10">
                  <c:v>2.8</c:v>
                </c:pt>
                <c:pt idx="11">
                  <c:v>2.95</c:v>
                </c:pt>
                <c:pt idx="12">
                  <c:v>3.1</c:v>
                </c:pt>
                <c:pt idx="13">
                  <c:v>3.25</c:v>
                </c:pt>
                <c:pt idx="14">
                  <c:v>3.4</c:v>
                </c:pt>
                <c:pt idx="15">
                  <c:v>3.55</c:v>
                </c:pt>
                <c:pt idx="16">
                  <c:v>3.7</c:v>
                </c:pt>
                <c:pt idx="17">
                  <c:v>3.85</c:v>
                </c:pt>
                <c:pt idx="18">
                  <c:v>4</c:v>
                </c:pt>
                <c:pt idx="19">
                  <c:v>4.15</c:v>
                </c:pt>
                <c:pt idx="20">
                  <c:v>4.3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APPS 2</c:v>
                </c:pt>
              </c:strCache>
            </c:strRef>
          </c:tx>
          <c:spPr>
            <a:solidFill>
              <a:srgbClr val="0000FE"/>
            </a:solidFill>
            <a:ln w="31750" cap="flat">
              <a:solidFill>
                <a:srgbClr val="0000F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000FE"/>
              </a:solidFill>
              <a:ln w="9525" cap="flat">
                <a:solidFill>
                  <a:srgbClr val="0000F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>25</c:v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>50</c:v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>75</c:v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100</c:v>
                  </c:pt>
                </c:lvl>
              </c:multiLvlStrCache>
            </c:multiLvl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0.7</c:v>
                </c:pt>
                <c:pt idx="1">
                  <c:v>0.79</c:v>
                </c:pt>
                <c:pt idx="2">
                  <c:v>0.88</c:v>
                </c:pt>
                <c:pt idx="3">
                  <c:v>0.97</c:v>
                </c:pt>
                <c:pt idx="4">
                  <c:v>1.06</c:v>
                </c:pt>
                <c:pt idx="5">
                  <c:v>1.15</c:v>
                </c:pt>
                <c:pt idx="6">
                  <c:v>1.24</c:v>
                </c:pt>
                <c:pt idx="7">
                  <c:v>1.33</c:v>
                </c:pt>
                <c:pt idx="8">
                  <c:v>1.42</c:v>
                </c:pt>
                <c:pt idx="9">
                  <c:v>1.51</c:v>
                </c:pt>
                <c:pt idx="10">
                  <c:v>1.6</c:v>
                </c:pt>
                <c:pt idx="11">
                  <c:v>1.69</c:v>
                </c:pt>
                <c:pt idx="12">
                  <c:v>1.78</c:v>
                </c:pt>
                <c:pt idx="13">
                  <c:v>1.87</c:v>
                </c:pt>
                <c:pt idx="14">
                  <c:v>1.96</c:v>
                </c:pt>
                <c:pt idx="15">
                  <c:v>2.05</c:v>
                </c:pt>
                <c:pt idx="16">
                  <c:v>2.14</c:v>
                </c:pt>
                <c:pt idx="17">
                  <c:v>2.23</c:v>
                </c:pt>
                <c:pt idx="18">
                  <c:v>2.32</c:v>
                </c:pt>
                <c:pt idx="19">
                  <c:v>2.41</c:v>
                </c:pt>
                <c:pt idx="20">
                  <c:v>2.5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Limite de falha (0,5 V)</c:v>
                </c:pt>
              </c:strCache>
            </c:strRef>
          </c:tx>
          <c:spPr>
            <a:solidFill>
              <a:srgbClr val="B8BBD0"/>
            </a:solidFill>
            <a:ln w="31750" cap="flat">
              <a:solidFill>
                <a:srgbClr val="B8BBD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8BBD0"/>
              </a:solidFill>
              <a:ln w="9525" cap="flat">
                <a:solidFill>
                  <a:srgbClr val="B8BBD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>25</c:v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>50</c:v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>75</c:v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100</c:v>
                  </c:pt>
                </c:lvl>
              </c:multiLvlStrCache>
            </c:multiLvlStrRef>
          </c:cat>
          <c:val>
            <c:numRef>
              <c:f>Sheet1!$D$2:$D$22</c:f>
              <c:numCache>
                <c:formatCode>General</c:formatCode>
                <c:ptCount val="21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  <c:pt idx="12">
                  <c:v>0.5</c:v>
                </c:pt>
                <c:pt idx="13">
                  <c:v>0.5</c:v>
                </c:pt>
                <c:pt idx="14">
                  <c:v>0.5</c:v>
                </c:pt>
                <c:pt idx="15">
                  <c:v>0.5</c:v>
                </c:pt>
                <c:pt idx="16">
                  <c:v>0.5</c:v>
                </c:pt>
                <c:pt idx="17">
                  <c:v>0.5</c:v>
                </c:pt>
                <c:pt idx="18">
                  <c:v>0.5</c:v>
                </c:pt>
                <c:pt idx="19">
                  <c:v>0.5</c:v>
                </c:pt>
                <c:pt idx="20">
                  <c:v>0.5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Limite de falha (4,5 V)</c:v>
                </c:pt>
              </c:strCache>
            </c:strRef>
          </c:tx>
          <c:spPr>
            <a:solidFill>
              <a:srgbClr val="B8BBD0"/>
            </a:solidFill>
            <a:ln w="31750" cap="flat">
              <a:solidFill>
                <a:srgbClr val="B8BBD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8BBD0"/>
              </a:solidFill>
              <a:ln w="9525" cap="flat">
                <a:solidFill>
                  <a:srgbClr val="B8BBD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>25</c:v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>50</c:v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>75</c:v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100</c:v>
                  </c:pt>
                </c:lvl>
              </c:multiLvlStrCache>
            </c:multiLvlStrRef>
          </c:cat>
          <c:val>
            <c:numRef>
              <c:f>Sheet1!$E$2:$E$22</c:f>
              <c:numCache>
                <c:formatCode>General</c:formatCode>
                <c:ptCount val="21"/>
                <c:pt idx="0">
                  <c:v>4.5</c:v>
                </c:pt>
                <c:pt idx="1">
                  <c:v>4.5</c:v>
                </c:pt>
                <c:pt idx="2">
                  <c:v>4.5</c:v>
                </c:pt>
                <c:pt idx="3">
                  <c:v>4.5</c:v>
                </c:pt>
                <c:pt idx="4">
                  <c:v>4.5</c:v>
                </c:pt>
                <c:pt idx="5">
                  <c:v>4.5</c:v>
                </c:pt>
                <c:pt idx="6">
                  <c:v>4.5</c:v>
                </c:pt>
                <c:pt idx="7">
                  <c:v>4.5</c:v>
                </c:pt>
                <c:pt idx="8">
                  <c:v>4.5</c:v>
                </c:pt>
                <c:pt idx="9">
                  <c:v>4.5</c:v>
                </c:pt>
                <c:pt idx="10">
                  <c:v>4.5</c:v>
                </c:pt>
                <c:pt idx="11">
                  <c:v>4.5</c:v>
                </c:pt>
                <c:pt idx="12">
                  <c:v>4.5</c:v>
                </c:pt>
                <c:pt idx="13">
                  <c:v>4.5</c:v>
                </c:pt>
                <c:pt idx="14">
                  <c:v>4.5</c:v>
                </c:pt>
                <c:pt idx="15">
                  <c:v>4.5</c:v>
                </c:pt>
                <c:pt idx="16">
                  <c:v>4.5</c:v>
                </c:pt>
                <c:pt idx="17">
                  <c:v>4.5</c:v>
                </c:pt>
                <c:pt idx="18">
                  <c:v>4.5</c:v>
                </c:pt>
                <c:pt idx="19">
                  <c:v>4.5</c:v>
                </c:pt>
                <c:pt idx="20">
                  <c:v>4.5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A4D6E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4A4D6E"/>
                    </a:solidFill>
                    <a:latin typeface="+mn-lt"/>
                  </a:rPr>
                  <a:t>Curso do pedal (%)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D6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9525" cap="flat">
              <a:solidFill>
                <a:srgbClr val="E3E5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A4D6E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4A4D6E"/>
                    </a:solidFill>
                    <a:latin typeface="+mn-lt"/>
                  </a:rPr>
                  <a:t>Tensão (V)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D6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A4D6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809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8093A"/>
                </a:solidFill>
                <a:latin typeface="+mn-lt"/>
              </a:rPr>
              <a:t>Diferença entre os sinais, V₁ − V₂ (V)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Revisada</c:v>
                </c:pt>
              </c:strCache>
            </c:strRef>
          </c:tx>
          <c:spPr>
            <a:solidFill>
              <a:srgbClr val="08093A"/>
            </a:solidFill>
            <a:ln w="31750" cap="flat">
              <a:solidFill>
                <a:srgbClr val="0809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8093A"/>
              </a:solidFill>
              <a:ln w="9525" cap="flat">
                <a:solidFill>
                  <a:srgbClr val="0809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>25</c:v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>50</c:v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>75</c:v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100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0.6</c:v>
                </c:pt>
                <c:pt idx="1">
                  <c:v>0.66</c:v>
                </c:pt>
                <c:pt idx="2">
                  <c:v>0.72</c:v>
                </c:pt>
                <c:pt idx="3">
                  <c:v>0.78</c:v>
                </c:pt>
                <c:pt idx="4">
                  <c:v>0.84</c:v>
                </c:pt>
                <c:pt idx="5">
                  <c:v>0.9</c:v>
                </c:pt>
                <c:pt idx="6">
                  <c:v>0.96</c:v>
                </c:pt>
                <c:pt idx="7">
                  <c:v>1.02</c:v>
                </c:pt>
                <c:pt idx="8">
                  <c:v>1.08</c:v>
                </c:pt>
                <c:pt idx="9">
                  <c:v>1.14</c:v>
                </c:pt>
                <c:pt idx="10">
                  <c:v>1.2</c:v>
                </c:pt>
                <c:pt idx="11">
                  <c:v>1.26</c:v>
                </c:pt>
                <c:pt idx="12">
                  <c:v>1.32</c:v>
                </c:pt>
                <c:pt idx="13">
                  <c:v>1.38</c:v>
                </c:pt>
                <c:pt idx="14">
                  <c:v>1.44</c:v>
                </c:pt>
                <c:pt idx="15">
                  <c:v>1.5</c:v>
                </c:pt>
                <c:pt idx="16">
                  <c:v>1.56</c:v>
                </c:pt>
                <c:pt idx="17">
                  <c:v>1.62</c:v>
                </c:pt>
                <c:pt idx="18">
                  <c:v>1.68</c:v>
                </c:pt>
                <c:pt idx="19">
                  <c:v>1.74</c:v>
                </c:pt>
                <c:pt idx="20">
                  <c:v>1.8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Anterior · pot.</c:v>
                </c:pt>
              </c:strCache>
            </c:strRef>
          </c:tx>
          <c:spPr>
            <a:solidFill>
              <a:srgbClr val="7E819F"/>
            </a:solidFill>
            <a:ln w="31750" cap="flat">
              <a:solidFill>
                <a:srgbClr val="7E819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E819F"/>
              </a:solidFill>
              <a:ln w="9525" cap="flat">
                <a:solidFill>
                  <a:srgbClr val="7E819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>25</c:v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>50</c:v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>75</c:v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100</c:v>
                  </c:pt>
                </c:lvl>
              </c:multiLvlStrCache>
            </c:multiLvl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0.35</c:v>
                </c:pt>
                <c:pt idx="1">
                  <c:v>0.316</c:v>
                </c:pt>
                <c:pt idx="2">
                  <c:v>0.281</c:v>
                </c:pt>
                <c:pt idx="3">
                  <c:v>0.246</c:v>
                </c:pt>
                <c:pt idx="4">
                  <c:v>0.212</c:v>
                </c:pt>
                <c:pt idx="5">
                  <c:v>0.177</c:v>
                </c:pt>
                <c:pt idx="6">
                  <c:v>0.143</c:v>
                </c:pt>
                <c:pt idx="7">
                  <c:v>0.109</c:v>
                </c:pt>
                <c:pt idx="8">
                  <c:v>0.074</c:v>
                </c:pt>
                <c:pt idx="9">
                  <c:v>0.039</c:v>
                </c:pt>
                <c:pt idx="10">
                  <c:v>0.005</c:v>
                </c:pt>
                <c:pt idx="11">
                  <c:v>0.03</c:v>
                </c:pt>
                <c:pt idx="12">
                  <c:v>0.064</c:v>
                </c:pt>
                <c:pt idx="13">
                  <c:v>0.098</c:v>
                </c:pt>
                <c:pt idx="14">
                  <c:v>0.133</c:v>
                </c:pt>
                <c:pt idx="15">
                  <c:v>0.167</c:v>
                </c:pt>
                <c:pt idx="16">
                  <c:v>0.202</c:v>
                </c:pt>
                <c:pt idx="17">
                  <c:v>0.236</c:v>
                </c:pt>
                <c:pt idx="18">
                  <c:v>0.271</c:v>
                </c:pt>
                <c:pt idx="19">
                  <c:v>0.305</c:v>
                </c:pt>
                <c:pt idx="20">
                  <c:v>0.34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Anterior · Hall</c:v>
                </c:pt>
              </c:strCache>
            </c:strRef>
          </c:tx>
          <c:spPr>
            <a:solidFill>
              <a:srgbClr val="B8BBD0"/>
            </a:solidFill>
            <a:ln w="31750" cap="flat">
              <a:solidFill>
                <a:srgbClr val="B8BBD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8BBD0"/>
              </a:solidFill>
              <a:ln w="9525" cap="flat">
                <a:solidFill>
                  <a:srgbClr val="B8BBD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>25</c:v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>50</c:v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>75</c:v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100</c:v>
                  </c:pt>
                </c:lvl>
              </c:multiLvlStrCache>
            </c:multiLvlStrRef>
          </c:cat>
          <c:val>
            <c:numRef>
              <c:f>Sheet1!$D$2:$D$22</c:f>
              <c:numCache>
                <c:formatCode>General</c:formatCode>
                <c:ptCount val="21"/>
                <c:pt idx="0">
                  <c:v>0.48</c:v>
                </c:pt>
                <c:pt idx="1">
                  <c:v>0.44</c:v>
                </c:pt>
                <c:pt idx="2">
                  <c:v>0.4</c:v>
                </c:pt>
                <c:pt idx="3">
                  <c:v>0.36</c:v>
                </c:pt>
                <c:pt idx="4">
                  <c:v>0.32</c:v>
                </c:pt>
                <c:pt idx="5">
                  <c:v>0.28</c:v>
                </c:pt>
                <c:pt idx="6">
                  <c:v>0.24</c:v>
                </c:pt>
                <c:pt idx="7">
                  <c:v>0.2</c:v>
                </c:pt>
                <c:pt idx="8">
                  <c:v>0.16</c:v>
                </c:pt>
                <c:pt idx="9">
                  <c:v>0.12</c:v>
                </c:pt>
                <c:pt idx="10">
                  <c:v>0.08</c:v>
                </c:pt>
                <c:pt idx="11">
                  <c:v>0.04</c:v>
                </c:pt>
                <c:pt idx="12">
                  <c:v>0</c:v>
                </c:pt>
                <c:pt idx="13">
                  <c:v>0.04</c:v>
                </c:pt>
                <c:pt idx="14">
                  <c:v>0.08</c:v>
                </c:pt>
                <c:pt idx="15">
                  <c:v>0.12</c:v>
                </c:pt>
                <c:pt idx="16">
                  <c:v>0.16</c:v>
                </c:pt>
                <c:pt idx="17">
                  <c:v>0.2</c:v>
                </c:pt>
                <c:pt idx="18">
                  <c:v>0.24</c:v>
                </c:pt>
                <c:pt idx="19">
                  <c:v>0.28</c:v>
                </c:pt>
                <c:pt idx="20">
                  <c:v>0.32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Mínimo (10% de 5 V)</c:v>
                </c:pt>
              </c:strCache>
            </c:strRef>
          </c:tx>
          <c:spPr>
            <a:solidFill>
              <a:srgbClr val="B86E00"/>
            </a:solidFill>
            <a:ln w="31750" cap="flat">
              <a:solidFill>
                <a:srgbClr val="B86E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86E00"/>
              </a:solidFill>
              <a:ln w="9525" cap="flat">
                <a:solidFill>
                  <a:srgbClr val="B86E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>25</c:v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>50</c:v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>75</c:v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100</c:v>
                  </c:pt>
                </c:lvl>
              </c:multiLvlStrCache>
            </c:multiLvlStrRef>
          </c:cat>
          <c:val>
            <c:numRef>
              <c:f>Sheet1!$E$2:$E$22</c:f>
              <c:numCache>
                <c:formatCode>General</c:formatCode>
                <c:ptCount val="21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  <c:pt idx="12">
                  <c:v>0.5</c:v>
                </c:pt>
                <c:pt idx="13">
                  <c:v>0.5</c:v>
                </c:pt>
                <c:pt idx="14">
                  <c:v>0.5</c:v>
                </c:pt>
                <c:pt idx="15">
                  <c:v>0.5</c:v>
                </c:pt>
                <c:pt idx="16">
                  <c:v>0.5</c:v>
                </c:pt>
                <c:pt idx="17">
                  <c:v>0.5</c:v>
                </c:pt>
                <c:pt idx="18">
                  <c:v>0.5</c:v>
                </c:pt>
                <c:pt idx="19">
                  <c:v>0.5</c:v>
                </c:pt>
                <c:pt idx="20">
                  <c:v>0.5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A4D6E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4A4D6E"/>
                    </a:solidFill>
                    <a:latin typeface="+mn-lt"/>
                  </a:rPr>
                  <a:t>Curso do pedal (%)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D6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2"/>
          <c:min val="0"/>
        </c:scaling>
        <c:delete val="0"/>
        <c:axPos val="l"/>
        <c:majorGridlines>
          <c:spPr>
            <a:ln w="9525" cap="flat">
              <a:solidFill>
                <a:srgbClr val="E3E5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A4D6E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4A4D6E"/>
                    </a:solidFill>
                    <a:latin typeface="+mn-lt"/>
                  </a:rPr>
                  <a:t>|V₁ − V₂| (V)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D6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A4D6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apresentar as duas arquiteturas candidatas para o sensor do pedal do acelerador (APPS) de 2026, mostrar como cada uma funciona, checar contra o regulamento FSAE 2027 (T.4.2) e revisar modos de falha, prós e contras.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problema do ano passado: os dois sinais tinham razão 2:1 (que é o que o regulamento quer), mas o comparador analógico da PDM comparava as tensões brutas. A meta é manter o comparador ativo, então ele precisa comparar valores normalizados. As duas arquiteturas em avaliação: A (potenciômetro linear KPM12J) e B (Hall angular).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Destaque para a T.4.2.3, terceiro item: acima de 10% de curso os sinais precisam diferir pelo menos 10%. Isso garante que um curto entre os dois sinais seja detectado. Interpretação adotada: diferença do sinal bruto, em % da faixa de 5 V. Vale confirmar a interpretação no ETC Systems 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potenciômetro é montado como um amortecedor: rótula no braço do pedal, rótula num garfo fixo na base. APPS 1 (anel vermelho) do lado esquerdo, APPS 2 (azul) do direito. Os raios foram revistos para 43 e 26 mm para atender a T.4.2.3; 26 mm fica justo perto do pivô, por isso o pivô foi elevado no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geometria é um quadrilátero articulado: pivô, ponto no braço, garfo na base. Com a biela perpendicular ao braço no meio do curso, o deslocamento é praticamente proporcional ao ângulo (erro de 0,1%). O ganho de cada sensor sai do raio de fixação; o offset sai da posição do garfo, que escolhe em que trecho da trilha o cursor trabalha.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dois sensores são estáticos, presos nos garfos do pivô. Quem gira é o eixo, travado no braço por um pino; cada ponta do eixo leva um ímã diametral num porta-ímã. O CI Hall fica num PCB a cerca de 1,5 mm do ímã. Se o eixo fosse um parafuso fixo, nada giraria na frente dos sensores.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ímã diametral gera um campo que gira junto com o eixo. O CI mede o ângulo desse campo. Como cada sensor olha de um lado, um vê o ímã girar no sentido horário e o outro no anti-horário: se os dois forem programados com o mesmo DIR, um sinal desce enquanto o outro sobe. Zero e faixa programados definem offset e ganho de cada sensor. Confirmar no datasheet os limites de programação de cada 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duas arquiteturas podem entregar exatamente as mesmas tensões: APPS 1 de 1,3 a 4,3 V e APPS 2 de 0,7 a 2,5 V. A diferença entre elas nunca fica abaixo de 0,6 V (0,72 V acima de 10% do curso), então atendem a T.4.2.3 na interpretação de sinal bruto em % de 5 V. As propostas anteriores tinham sinais que se cruzavam e precisam ser descartadas. Com sinais diferentes, o comparador precisa trabalhar com valores normalizados.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lado do sensor, as duas arquiteturas fecham todos os itens da T.4.2. O ponto aberto é sistêmico: a checagem de implausibilidade (10% por 100 ms) tem que comparar % de curso. Com a task do ETC a 50 Hz, 100 ms equivalem a 5 ciclos.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as duas arquiteturas entregam a mesma faixa de tensão e usam pull-down no controlador, as falhas elétricas são detectadas igual. O ponto em aberto é a perda de GND no CI Hall: o comportamento da saída precisa ser medido em bancada. O curto entre os dois sinais só é detectado porque as funções de transferência são diferentes — é exatamente a razão da T.4.2.3.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arquitetura A, a maior parte das falhas mecânicas aparece como divergência entre sensores e é pega pela plausibilidade. Na B, o ponto crítico é a fixação do ímã: com só 20° de curso, cada grau de folga vira 5 pontos percentuais, e um erro de até 2° passa sem alarme mas muda o acelerador. Campo externo também gera erro silencioso.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Resumo: A é mais simples eletricamente e não depende de programação, mas tem desgaste por contato e mais mecânica. B elimina bielas e desgaste e permite ajustar as funções de transferência por software, mas depende de um ímã perfeitamente travado e de um procedimento de programação e verificação.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dois primeiros itens destravam o projeto mecânico (posição dos garfos) e o elétrico (comparador). A bancada do Hall responde a principal dúvida da arquitetura B, que é a fixação do ímã. A decisão final deve vir dos testes de falha.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35240" y="0"/>
            <a:ext cx="4556455" cy="685800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3" name="Image 0" descr="/tmp/claude-0/-home-claude/dd4db180-c8d8-51b1-b549-3a5e3e44c9d0/scratchpad/deck/assets/logo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3108960" cy="1233225"/>
          </a:xfrm>
          <a:prstGeom prst="rect">
            <a:avLst/>
          </a:prstGeom>
        </p:spPr>
      </p:pic>
      <p:pic>
        <p:nvPicPr>
          <p:cNvPr id="4" name="Image 1" descr="/tmp/claude-0/-home-claude/dd4db180-c8d8-51b1-b549-3a5e3e44c9d0/scratchpad/deck/assets/check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035040"/>
            <a:ext cx="6400800" cy="547217"/>
          </a:xfrm>
          <a:prstGeom prst="rect">
            <a:avLst/>
          </a:prstGeom>
        </p:spPr>
      </p:pic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2240280"/>
            <a:ext cx="6766560" cy="1508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548640" y="3931920"/>
            <a:ext cx="66751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700" dirty="0"/>
          </a:p>
        </p:txBody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548640" y="5074920"/>
            <a:ext cx="667512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dd4db180-c8d8-51b1-b549-3a5e3e44c9d0/scratchpad/deck/assets/mark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438912"/>
            <a:ext cx="914400" cy="2684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Formula UFMG · APPS 2026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694944"/>
            <a:ext cx="100584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AMENT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dd4db180-c8d8-51b1-b549-3a5e3e44c9d0/scratchpad/deck/assets/ma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371600" cy="402701"/>
          </a:xfrm>
          <a:prstGeom prst="rect">
            <a:avLst/>
          </a:prstGeom>
        </p:spPr>
      </p:pic>
      <p:pic>
        <p:nvPicPr>
          <p:cNvPr id="3" name="Image 1" descr="/tmp/claude-0/-home-claude/dd4db180-c8d8-51b1-b549-3a5e3e44c9d0/scratchpad/deck/assets/check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6080760"/>
            <a:ext cx="6035040" cy="515948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1143000"/>
            <a:ext cx="10515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image" Target="../media/image-12-5.png"/><Relationship Id="rId6" Type="http://schemas.openxmlformats.org/officeDocument/2006/relationships/image" Target="../media/image-12-5.png"/><Relationship Id="rId7" Type="http://schemas.openxmlformats.org/officeDocument/2006/relationships/image" Target="../media/image-12-5.png"/><Relationship Id="rId8" Type="http://schemas.openxmlformats.org/officeDocument/2006/relationships/image" Target="../media/image-12-5.png"/><Relationship Id="rId9" Type="http://schemas.openxmlformats.org/officeDocument/2006/relationships/image" Target="../media/image-12-1.png"/><Relationship Id="rId10" Type="http://schemas.openxmlformats.org/officeDocument/2006/relationships/image" Target="../media/image-12-1.png"/><Relationship Id="rId11" Type="http://schemas.openxmlformats.org/officeDocument/2006/relationships/image" Target="../media/image-12-1.png"/><Relationship Id="rId12" Type="http://schemas.openxmlformats.org/officeDocument/2006/relationships/image" Target="../media/image-12-1.png"/><Relationship Id="rId13" Type="http://schemas.openxmlformats.org/officeDocument/2006/relationships/image" Target="../media/image-12-5.png"/><Relationship Id="rId14" Type="http://schemas.openxmlformats.org/officeDocument/2006/relationships/image" Target="../media/image-12-5.png"/><Relationship Id="rId15" Type="http://schemas.openxmlformats.org/officeDocument/2006/relationships/image" Target="../media/image-12-5.png"/><Relationship Id="rId16" Type="http://schemas.openxmlformats.org/officeDocument/2006/relationships/image" Target="../media/image-12-5.png"/><Relationship Id="rId17" Type="http://schemas.openxmlformats.org/officeDocument/2006/relationships/slideLayout" Target="../slideLayouts/slideLayout3.xml"/><Relationship Id="rId1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2240280"/>
            <a:ext cx="6766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Arquitetura do APPS 2026</a:t>
            </a:r>
            <a:endParaRPr lang="en-US" sz="4000" dirty="0"/>
          </a:p>
        </p:txBody>
      </p:sp>
      <p:sp>
        <p:nvSpPr>
          <p:cNvPr id="3" name="Text 1"/>
          <p:cNvSpPr/>
          <p:nvPr>
            <p:ph idx="104" type="body" hasCustomPrompt="1"/>
          </p:nvPr>
        </p:nvSpPr>
        <p:spPr>
          <a:xfrm>
            <a:off x="548640" y="3931920"/>
            <a:ext cx="667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Potenciômetro linear KPM12J × sensor Hall angular: como funcionam, o que o regulamento FSAE 2027 exige e a revisão de falhas</a:t>
            </a:r>
            <a:endParaRPr lang="en-US" sz="1700" dirty="0"/>
          </a:p>
        </p:txBody>
      </p:sp>
      <p:sp>
        <p:nvSpPr>
          <p:cNvPr id="4" name="Text 1"/>
          <p:cNvSpPr/>
          <p:nvPr>
            <p:ph idx="105" type="body" hasCustomPrompt="1"/>
          </p:nvPr>
        </p:nvSpPr>
        <p:spPr>
          <a:xfrm>
            <a:off x="548640" y="507492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Eletrônica · Car #05 · Vinicius Gonçalves · outubro de 2026</a:t>
            </a:r>
            <a:endParaRPr lang="en-US" sz="1300" dirty="0"/>
          </a:p>
        </p:txBody>
      </p:sp>
      <p:pic>
        <p:nvPicPr>
          <p:cNvPr id="5" name="Render pedal com potenciômetro linear" descr="/tmp/claude-0/-home-claude/dd4db180-c8d8-51b1-b549-3a5e3e44c9d0/scratchpad/deck/assets/A1_linear_3d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777240"/>
            <a:ext cx="4214287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CONTEXTO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94944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 que o APPS 2026 precisa resolver</a:t>
            </a:r>
            <a:endParaRPr lang="en-US" sz="3000" dirty="0"/>
          </a:p>
        </p:txBody>
      </p:sp>
      <p:sp>
        <p:nvSpPr>
          <p:cNvPr id="4" name="card contexto 1"/>
          <p:cNvSpPr/>
          <p:nvPr/>
        </p:nvSpPr>
        <p:spPr>
          <a:xfrm>
            <a:off x="548640" y="1600200"/>
            <a:ext cx="59893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5" name="contexto 1 círculo"/>
          <p:cNvSpPr/>
          <p:nvPr/>
        </p:nvSpPr>
        <p:spPr>
          <a:xfrm>
            <a:off x="777240" y="1874520"/>
            <a:ext cx="566928" cy="566928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6" name="contexto 1 ícone" descr="/tmp/claude-0/-home-claude/dd4db180-c8d8-51b1-b549-3a5e3e44c9d0/scratchpad/deck/assets/ic_FaBolt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2016252"/>
            <a:ext cx="283464" cy="2834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78308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2025: comparador desarmando o carro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130552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O APPS comprado lia ~1,7 V × ~3,4 V. A PDM comparava as tensões, via mais de 10% de diferença e desarmava o carro; em bypass, o pedal funcionava.</a:t>
            </a:r>
            <a:endParaRPr lang="en-US" sz="1350" dirty="0"/>
          </a:p>
        </p:txBody>
      </p:sp>
      <p:sp>
        <p:nvSpPr>
          <p:cNvPr id="9" name="card contexto 2"/>
          <p:cNvSpPr/>
          <p:nvPr/>
        </p:nvSpPr>
        <p:spPr>
          <a:xfrm>
            <a:off x="548640" y="3154680"/>
            <a:ext cx="59893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0" name="contexto 2 círculo"/>
          <p:cNvSpPr/>
          <p:nvPr/>
        </p:nvSpPr>
        <p:spPr>
          <a:xfrm>
            <a:off x="777240" y="3429000"/>
            <a:ext cx="566928" cy="566928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1" name="contexto 2 ícone" descr="/tmp/claude-0/-home-claude/dd4db180-c8d8-51b1-b549-3a5e3e44c9d0/scratchpad/deck/assets/ic_FaClipboardCheck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" y="357073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333756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Regulamento 2027 pede sinais diferentes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1554480" y="3685032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A T.4.2.3 exige funções de transferência diferentes. A verificação de 10% tem que ser feita em % de curso, não em volts.</a:t>
            </a:r>
            <a:endParaRPr lang="en-US" sz="1350" dirty="0"/>
          </a:p>
        </p:txBody>
      </p:sp>
      <p:sp>
        <p:nvSpPr>
          <p:cNvPr id="14" name="card contexto 3"/>
          <p:cNvSpPr/>
          <p:nvPr/>
        </p:nvSpPr>
        <p:spPr>
          <a:xfrm>
            <a:off x="548640" y="4709160"/>
            <a:ext cx="59893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5" name="contexto 3 círculo"/>
          <p:cNvSpPr/>
          <p:nvPr/>
        </p:nvSpPr>
        <p:spPr>
          <a:xfrm>
            <a:off x="777240" y="4983480"/>
            <a:ext cx="566928" cy="566928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6" name="contexto 3 ícone" descr="/tmp/claude-0/-home-claude/dd4db180-c8d8-51b1-b549-3a5e3e44c9d0/scratchpad/deck/assets/ic_FaFlagCheckered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" y="5125212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489204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Meta 2026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5239512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Rodar com o comparador ativo e um pedal mais sensível: em uma pisada rápida o TPS precisa chegar a 100%.</a:t>
            </a:r>
            <a:endParaRPr lang="en-US" sz="1350" dirty="0"/>
          </a:p>
        </p:txBody>
      </p:sp>
      <p:sp>
        <p:nvSpPr>
          <p:cNvPr id="19" name="card opção A"/>
          <p:cNvSpPr/>
          <p:nvPr/>
        </p:nvSpPr>
        <p:spPr>
          <a:xfrm>
            <a:off x="6858000" y="1600200"/>
            <a:ext cx="2313432" cy="4526280"/>
          </a:xfrm>
          <a:prstGeom prst="roundRect">
            <a:avLst>
              <a:gd name="adj" fmla="val 3162"/>
            </a:avLst>
          </a:prstGeom>
          <a:solidFill>
            <a:schemeClr val="bg2"/>
          </a:solidFill>
          <a:ln/>
        </p:spPr>
      </p:sp>
      <p:pic>
        <p:nvPicPr>
          <p:cNvPr id="20" name="render opção A" descr="/tmp/claude-0/-home-claude/dd4db180-c8d8-51b1-b549-3a5e3e44c9d0/scratchpad/deck/assets/A1_linear_3d_cro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7456" y="1783080"/>
            <a:ext cx="1874520" cy="2277667"/>
          </a:xfrm>
          <a:prstGeom prst="rect">
            <a:avLst/>
          </a:prstGeom>
        </p:spPr>
      </p:pic>
      <p:sp>
        <p:nvSpPr>
          <p:cNvPr id="21" name="chip A"/>
          <p:cNvSpPr/>
          <p:nvPr/>
        </p:nvSpPr>
        <p:spPr>
          <a:xfrm>
            <a:off x="7077456" y="4160520"/>
            <a:ext cx="384048" cy="310896"/>
          </a:xfrm>
          <a:prstGeom prst="roundRect">
            <a:avLst>
              <a:gd name="adj" fmla="val 17647"/>
            </a:avLst>
          </a:prstGeom>
          <a:solidFill>
            <a:schemeClr val="accent1"/>
          </a:solidFill>
          <a:ln/>
        </p:spPr>
      </p:sp>
      <p:sp>
        <p:nvSpPr>
          <p:cNvPr id="22" name="chip texto A"/>
          <p:cNvSpPr txBox="1"/>
          <p:nvPr/>
        </p:nvSpPr>
        <p:spPr>
          <a:xfrm>
            <a:off x="7077456" y="4160520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7077456" y="46177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Potenciômetro linear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7077456" y="519379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KPM12J como biela, um de cada lado</a:t>
            </a:r>
            <a:endParaRPr lang="en-US" sz="1250" dirty="0"/>
          </a:p>
        </p:txBody>
      </p:sp>
      <p:sp>
        <p:nvSpPr>
          <p:cNvPr id="25" name="card opção B"/>
          <p:cNvSpPr/>
          <p:nvPr/>
        </p:nvSpPr>
        <p:spPr>
          <a:xfrm>
            <a:off x="9326880" y="1600200"/>
            <a:ext cx="2313432" cy="4526280"/>
          </a:xfrm>
          <a:prstGeom prst="roundRect">
            <a:avLst>
              <a:gd name="adj" fmla="val 3162"/>
            </a:avLst>
          </a:prstGeom>
          <a:solidFill>
            <a:schemeClr val="bg2"/>
          </a:solidFill>
          <a:ln/>
        </p:spPr>
      </p:sp>
      <p:pic>
        <p:nvPicPr>
          <p:cNvPr id="26" name="render opção B" descr="/tmp/claude-0/-home-claude/dd4db180-c8d8-51b1-b549-3a5e3e44c9d0/scratchpad/deck/assets/B1_hall_3d_cro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336" y="1783080"/>
            <a:ext cx="1874520" cy="2266651"/>
          </a:xfrm>
          <a:prstGeom prst="rect">
            <a:avLst/>
          </a:prstGeom>
        </p:spPr>
      </p:pic>
      <p:sp>
        <p:nvSpPr>
          <p:cNvPr id="27" name="chip B"/>
          <p:cNvSpPr/>
          <p:nvPr/>
        </p:nvSpPr>
        <p:spPr>
          <a:xfrm>
            <a:off x="9546336" y="4160520"/>
            <a:ext cx="384048" cy="310896"/>
          </a:xfrm>
          <a:prstGeom prst="roundRect">
            <a:avLst>
              <a:gd name="adj" fmla="val 17647"/>
            </a:avLst>
          </a:prstGeom>
          <a:solidFill>
            <a:schemeClr val="accent1"/>
          </a:solidFill>
          <a:ln/>
        </p:spPr>
      </p:sp>
      <p:sp>
        <p:nvSpPr>
          <p:cNvPr id="28" name="chip texto B"/>
          <p:cNvSpPr txBox="1"/>
          <p:nvPr/>
        </p:nvSpPr>
        <p:spPr>
          <a:xfrm>
            <a:off x="9546336" y="4160520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9546336" y="46177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Sensor Hall angular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9546336" y="519379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ímã no eixo, CI fixo no garfo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REGULAMENTO FSAE 2027 · T.4.2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94944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 que a FSAE 2027 exige do APPS</a:t>
            </a:r>
            <a:endParaRPr lang="en-US" sz="3000" dirty="0"/>
          </a:p>
        </p:txBody>
      </p:sp>
      <p:sp>
        <p:nvSpPr>
          <p:cNvPr id="4" name="card T.4.2.3"/>
          <p:cNvSpPr/>
          <p:nvPr/>
        </p:nvSpPr>
        <p:spPr>
          <a:xfrm>
            <a:off x="548640" y="1600200"/>
            <a:ext cx="3886200" cy="4251960"/>
          </a:xfrm>
          <a:prstGeom prst="roundRect">
            <a:avLst>
              <a:gd name="adj" fmla="val 1882"/>
            </a:avLst>
          </a:prstGeom>
          <a:solidFill>
            <a:schemeClr val="accent6"/>
          </a:solidFill>
          <a:ln/>
        </p:spPr>
      </p:sp>
      <p:sp>
        <p:nvSpPr>
          <p:cNvPr id="5" name="chip T.4.2.3"/>
          <p:cNvSpPr/>
          <p:nvPr/>
        </p:nvSpPr>
        <p:spPr>
          <a:xfrm>
            <a:off x="777240" y="1828800"/>
            <a:ext cx="1051560" cy="310896"/>
          </a:xfrm>
          <a:prstGeom prst="roundRect">
            <a:avLst>
              <a:gd name="adj" fmla="val 17647"/>
            </a:avLst>
          </a:prstGeom>
          <a:solidFill>
            <a:schemeClr val="accent2"/>
          </a:solidFill>
          <a:ln/>
        </p:spPr>
      </p:sp>
      <p:sp>
        <p:nvSpPr>
          <p:cNvPr id="6" name="chip texto T.4.2.3"/>
          <p:cNvSpPr txBox="1"/>
          <p:nvPr/>
        </p:nvSpPr>
        <p:spPr>
          <a:xfrm>
            <a:off x="777240" y="182880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T.4.2.3</a:t>
            </a:r>
            <a:endParaRPr lang="en-US" sz="1200" dirty="0"/>
          </a:p>
        </p:txBody>
      </p:sp>
      <p:pic>
        <p:nvPicPr>
          <p:cNvPr id="7" name="atenção T.4.2.3 ícone" descr="/tmp/claude-0/-home-claude/dd4db180-c8d8-51b1-b549-3a5e3e44c9d0/scratchpad/deck/assets/ic_FaExclamationTriangle_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1810512"/>
            <a:ext cx="347472" cy="34747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" y="22860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Funções de transferência diferentes</a:t>
            </a:r>
            <a:endParaRPr lang="en-US" sz="1800" dirty="0"/>
          </a:p>
        </p:txBody>
      </p:sp>
      <p:sp>
        <p:nvSpPr>
          <p:cNvPr id="9" name="número 1"/>
          <p:cNvSpPr/>
          <p:nvPr/>
        </p:nvSpPr>
        <p:spPr>
          <a:xfrm>
            <a:off x="777240" y="306324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número texto 1"/>
          <p:cNvSpPr txBox="1"/>
          <p:nvPr/>
        </p:nvSpPr>
        <p:spPr>
          <a:xfrm>
            <a:off x="777240" y="3063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234440" y="304495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Gradiente e/ou offset 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diferentes entre os sensores.</a:t>
            </a:r>
            <a:endParaRPr lang="en-US" sz="1350" dirty="0"/>
          </a:p>
        </p:txBody>
      </p:sp>
      <p:sp>
        <p:nvSpPr>
          <p:cNvPr id="12" name="número 2"/>
          <p:cNvSpPr/>
          <p:nvPr/>
        </p:nvSpPr>
        <p:spPr>
          <a:xfrm>
            <a:off x="777240" y="393192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número texto 2"/>
          <p:cNvSpPr txBox="1"/>
          <p:nvPr/>
        </p:nvSpPr>
        <p:spPr>
          <a:xfrm>
            <a:off x="777240" y="3931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234440" y="391363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Pull-down ou pull-up 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leva um circuito aberto a 0% de curso.</a:t>
            </a:r>
            <a:endParaRPr lang="en-US" sz="1350" dirty="0"/>
          </a:p>
        </p:txBody>
      </p:sp>
      <p:sp>
        <p:nvSpPr>
          <p:cNvPr id="15" name="número 3"/>
          <p:cNvSpPr/>
          <p:nvPr/>
        </p:nvSpPr>
        <p:spPr>
          <a:xfrm>
            <a:off x="777240" y="480060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número texto 3"/>
          <p:cNvSpPr txBox="1"/>
          <p:nvPr/>
        </p:nvSpPr>
        <p:spPr>
          <a:xfrm>
            <a:off x="777240" y="4800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234440" y="478231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Acima de 10% de curso 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 saída de cada sensor difere no mínimo 10% das outras. Inclinação oposta que não cumpra isso não é aceita.</a:t>
            </a:r>
            <a:endParaRPr lang="en-US" sz="1350" dirty="0"/>
          </a:p>
        </p:txBody>
      </p:sp>
      <p:sp>
        <p:nvSpPr>
          <p:cNvPr id="18" name="card T.4.2.1"/>
          <p:cNvSpPr/>
          <p:nvPr/>
        </p:nvSpPr>
        <p:spPr>
          <a:xfrm>
            <a:off x="4663440" y="1600200"/>
            <a:ext cx="331927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19" name="chip T.4.2.1"/>
          <p:cNvSpPr/>
          <p:nvPr/>
        </p:nvSpPr>
        <p:spPr>
          <a:xfrm>
            <a:off x="4846320" y="1783080"/>
            <a:ext cx="960120" cy="310896"/>
          </a:xfrm>
          <a:prstGeom prst="roundRect">
            <a:avLst>
              <a:gd name="adj" fmla="val 17647"/>
            </a:avLst>
          </a:prstGeom>
          <a:solidFill>
            <a:schemeClr val="tx1"/>
          </a:solidFill>
          <a:ln/>
        </p:spPr>
      </p:sp>
      <p:sp>
        <p:nvSpPr>
          <p:cNvPr id="20" name="chip texto T.4.2.1"/>
          <p:cNvSpPr txBox="1"/>
          <p:nvPr/>
        </p:nvSpPr>
        <p:spPr>
          <a:xfrm>
            <a:off x="4846320" y="17830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T.4.2.1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925312" y="178308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 molas de retorno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4846320" y="2203704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Cada uma volta o pedal a 0% sozinha; molas do sensor não contam.</a:t>
            </a:r>
            <a:endParaRPr lang="en-US" sz="1300" dirty="0"/>
          </a:p>
        </p:txBody>
      </p:sp>
      <p:sp>
        <p:nvSpPr>
          <p:cNvPr id="23" name="card T.4.2.2"/>
          <p:cNvSpPr/>
          <p:nvPr/>
        </p:nvSpPr>
        <p:spPr>
          <a:xfrm>
            <a:off x="8183880" y="1600200"/>
            <a:ext cx="331927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24" name="chip T.4.2.2"/>
          <p:cNvSpPr/>
          <p:nvPr/>
        </p:nvSpPr>
        <p:spPr>
          <a:xfrm>
            <a:off x="8366760" y="1783080"/>
            <a:ext cx="960120" cy="310896"/>
          </a:xfrm>
          <a:prstGeom prst="roundRect">
            <a:avLst>
              <a:gd name="adj" fmla="val 17647"/>
            </a:avLst>
          </a:prstGeom>
          <a:solidFill>
            <a:schemeClr val="tx1"/>
          </a:solidFill>
          <a:ln/>
        </p:spPr>
      </p:sp>
      <p:sp>
        <p:nvSpPr>
          <p:cNvPr id="25" name="chip texto T.4.2.2"/>
          <p:cNvSpPr txBox="1"/>
          <p:nvPr/>
        </p:nvSpPr>
        <p:spPr>
          <a:xfrm>
            <a:off x="8366760" y="17830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T.4.2.2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9445752" y="178308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Sensores separados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8366760" y="2203704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Dois ou mais APPS eletricamente separados.</a:t>
            </a:r>
            <a:endParaRPr lang="en-US" sz="1300" dirty="0"/>
          </a:p>
        </p:txBody>
      </p:sp>
      <p:sp>
        <p:nvSpPr>
          <p:cNvPr id="28" name="card T.4.2.4–5"/>
          <p:cNvSpPr/>
          <p:nvPr/>
        </p:nvSpPr>
        <p:spPr>
          <a:xfrm>
            <a:off x="4663440" y="3063240"/>
            <a:ext cx="331927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29" name="chip T.4.2.4–5"/>
          <p:cNvSpPr/>
          <p:nvPr/>
        </p:nvSpPr>
        <p:spPr>
          <a:xfrm>
            <a:off x="4846320" y="3246120"/>
            <a:ext cx="960120" cy="310896"/>
          </a:xfrm>
          <a:prstGeom prst="roundRect">
            <a:avLst>
              <a:gd name="adj" fmla="val 17647"/>
            </a:avLst>
          </a:prstGeom>
          <a:solidFill>
            <a:schemeClr val="tx1"/>
          </a:solidFill>
          <a:ln/>
        </p:spPr>
      </p:sp>
      <p:sp>
        <p:nvSpPr>
          <p:cNvPr id="30" name="chip texto T.4.2.4–5"/>
          <p:cNvSpPr txBox="1"/>
          <p:nvPr/>
        </p:nvSpPr>
        <p:spPr>
          <a:xfrm>
            <a:off x="4846320" y="32461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T.4.2.4–5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925312" y="32461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Implausibilidade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4846320" y="3666744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Diferença &gt; 10% do curso por &gt; 100 ms corta o acelerador eletrônico.</a:t>
            </a:r>
            <a:endParaRPr lang="en-US" sz="1300" dirty="0"/>
          </a:p>
        </p:txBody>
      </p:sp>
      <p:sp>
        <p:nvSpPr>
          <p:cNvPr id="33" name="card T.4.2.7"/>
          <p:cNvSpPr/>
          <p:nvPr/>
        </p:nvSpPr>
        <p:spPr>
          <a:xfrm>
            <a:off x="8183880" y="3063240"/>
            <a:ext cx="331927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34" name="chip T.4.2.7"/>
          <p:cNvSpPr/>
          <p:nvPr/>
        </p:nvSpPr>
        <p:spPr>
          <a:xfrm>
            <a:off x="8366760" y="3246120"/>
            <a:ext cx="960120" cy="310896"/>
          </a:xfrm>
          <a:prstGeom prst="roundRect">
            <a:avLst>
              <a:gd name="adj" fmla="val 17647"/>
            </a:avLst>
          </a:prstGeom>
          <a:solidFill>
            <a:schemeClr val="tx1"/>
          </a:solidFill>
          <a:ln/>
        </p:spPr>
      </p:sp>
      <p:sp>
        <p:nvSpPr>
          <p:cNvPr id="35" name="chip texto T.4.2.7"/>
          <p:cNvSpPr txBox="1"/>
          <p:nvPr/>
        </p:nvSpPr>
        <p:spPr>
          <a:xfrm>
            <a:off x="8366760" y="32461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T.4.2.7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9445752" y="32461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Inspeção técnica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8366760" y="3666744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Conector destacável (ou breakout) para cada APPS.</a:t>
            </a:r>
            <a:endParaRPr lang="en-US" sz="1300" dirty="0"/>
          </a:p>
        </p:txBody>
      </p:sp>
      <p:sp>
        <p:nvSpPr>
          <p:cNvPr id="38" name="card T.4.2.8"/>
          <p:cNvSpPr/>
          <p:nvPr/>
        </p:nvSpPr>
        <p:spPr>
          <a:xfrm>
            <a:off x="4663440" y="4526280"/>
            <a:ext cx="331927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39" name="chip T.4.2.8"/>
          <p:cNvSpPr/>
          <p:nvPr/>
        </p:nvSpPr>
        <p:spPr>
          <a:xfrm>
            <a:off x="4846320" y="4709160"/>
            <a:ext cx="960120" cy="310896"/>
          </a:xfrm>
          <a:prstGeom prst="roundRect">
            <a:avLst>
              <a:gd name="adj" fmla="val 17647"/>
            </a:avLst>
          </a:prstGeom>
          <a:solidFill>
            <a:schemeClr val="tx1"/>
          </a:solidFill>
          <a:ln/>
        </p:spPr>
      </p:sp>
      <p:sp>
        <p:nvSpPr>
          <p:cNvPr id="40" name="chip texto T.4.2.8"/>
          <p:cNvSpPr txBox="1"/>
          <p:nvPr/>
        </p:nvSpPr>
        <p:spPr>
          <a:xfrm>
            <a:off x="4846320" y="470916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T.4.2.8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5925312" y="47091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Sinal direto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4846320" y="5129784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Analógico ou barramento (CAN/FlexRay) direto ao controlador.</a:t>
            </a:r>
            <a:endParaRPr lang="en-US" sz="1300" dirty="0"/>
          </a:p>
        </p:txBody>
      </p:sp>
      <p:sp>
        <p:nvSpPr>
          <p:cNvPr id="43" name="card T.4.2.9–10"/>
          <p:cNvSpPr/>
          <p:nvPr/>
        </p:nvSpPr>
        <p:spPr>
          <a:xfrm>
            <a:off x="8183880" y="4526280"/>
            <a:ext cx="331927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44" name="chip T.4.2.9–10"/>
          <p:cNvSpPr/>
          <p:nvPr/>
        </p:nvSpPr>
        <p:spPr>
          <a:xfrm>
            <a:off x="8366760" y="4709160"/>
            <a:ext cx="960120" cy="310896"/>
          </a:xfrm>
          <a:prstGeom prst="roundRect">
            <a:avLst>
              <a:gd name="adj" fmla="val 17647"/>
            </a:avLst>
          </a:prstGeom>
          <a:solidFill>
            <a:schemeClr val="tx1"/>
          </a:solidFill>
          <a:ln/>
        </p:spPr>
      </p:sp>
      <p:sp>
        <p:nvSpPr>
          <p:cNvPr id="45" name="chip texto T.4.2.9–10"/>
          <p:cNvSpPr txBox="1"/>
          <p:nvPr/>
        </p:nvSpPr>
        <p:spPr>
          <a:xfrm>
            <a:off x="8366760" y="470916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T.4.2.9–10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9445752" y="47091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Falha detectável</a:t>
            </a:r>
            <a:endParaRPr lang="en-US" sz="1400" dirty="0"/>
          </a:p>
        </p:txBody>
      </p:sp>
      <p:sp>
        <p:nvSpPr>
          <p:cNvPr id="47" name="Text 44"/>
          <p:cNvSpPr txBox="1"/>
          <p:nvPr/>
        </p:nvSpPr>
        <p:spPr>
          <a:xfrm>
            <a:off x="8366760" y="5129784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Aberto ou curto gera sinal fora da faixa (ex.: &lt; 0,5 V ou &gt; 4,5 V).</a:t>
            </a:r>
            <a:endParaRPr lang="en-US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548640" y="59618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Fonte: Formula SAE Rules 2027, versão 1.0 (1 set. 2026), seção T.4.2 — a IC.4.5 (veículos a combustão com ETC) remete a ela.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ARQUITETURA A · POTENCIÔMETRO LINEAR KPM12J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94944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 KPM12J vira a biela entre o braço e a base</a:t>
            </a:r>
            <a:endParaRPr lang="en-US" sz="3000" dirty="0"/>
          </a:p>
        </p:txBody>
      </p:sp>
      <p:pic>
        <p:nvPicPr>
          <p:cNvPr id="4" name="Render arquitetura A" descr="/tmp/claude-0/-home-claude/dd4db180-c8d8-51b1-b549-3a5e3e44c9d0/scratchpad/deck/assets/A1_linear_3d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3950894" cy="4800600"/>
          </a:xfrm>
          <a:prstGeom prst="rect">
            <a:avLst/>
          </a:prstGeom>
        </p:spPr>
      </p:pic>
      <p:sp>
        <p:nvSpPr>
          <p:cNvPr id="5" name="A item 1 círculo"/>
          <p:cNvSpPr/>
          <p:nvPr/>
        </p:nvSpPr>
        <p:spPr>
          <a:xfrm>
            <a:off x="5257800" y="1691640"/>
            <a:ext cx="566928" cy="566928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6" name="A item 1 ícone" descr="/tmp/claude-0/-home-claude/dd4db180-c8d8-51b1-b549-3a5e3e44c9d0/scratchpad/deck/assets/ic_FaLink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532" y="1833372"/>
            <a:ext cx="283464" cy="28346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035040" y="164592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Sensor como biela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035040" y="2029968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Uma ponta no braço, outra num garfo fixo na base: o giro do pedal muda o comprimento entre centros.</a:t>
            </a:r>
            <a:endParaRPr lang="en-US" sz="1400" dirty="0"/>
          </a:p>
        </p:txBody>
      </p:sp>
      <p:sp>
        <p:nvSpPr>
          <p:cNvPr id="9" name="A item 2 círculo"/>
          <p:cNvSpPr/>
          <p:nvPr/>
        </p:nvSpPr>
        <p:spPr>
          <a:xfrm>
            <a:off x="5257800" y="2834640"/>
            <a:ext cx="566928" cy="566928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0" name="A item 2 ícone" descr="/tmp/claude-0/-home-claude/dd4db180-c8d8-51b1-b549-3a5e3e44c9d0/scratchpad/deck/assets/ic_FaCogs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532" y="2976372"/>
            <a:ext cx="283464" cy="28346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035040" y="278892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Rótulas nas duas pontas</a:t>
            </a:r>
            <a:endParaRPr lang="en-US" sz="1700" dirty="0"/>
          </a:p>
        </p:txBody>
      </p:sp>
      <p:sp>
        <p:nvSpPr>
          <p:cNvPr id="12" name="Text 7"/>
          <p:cNvSpPr txBox="1"/>
          <p:nvPr/>
        </p:nvSpPr>
        <p:spPr>
          <a:xfrm>
            <a:off x="6035040" y="3172968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 sensor só trabalha axialmente, sem carga lateral na haste.</a:t>
            </a:r>
            <a:endParaRPr lang="en-US" sz="1400" dirty="0"/>
          </a:p>
        </p:txBody>
      </p:sp>
      <p:sp>
        <p:nvSpPr>
          <p:cNvPr id="13" name="A item 3 círculo"/>
          <p:cNvSpPr/>
          <p:nvPr/>
        </p:nvSpPr>
        <p:spPr>
          <a:xfrm>
            <a:off x="5257800" y="397764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A item 3 ícone" descr="/tmp/claude-0/-home-claude/dd4db180-c8d8-51b1-b549-3a5e3e44c9d0/scratchpad/deck/assets/ic_FaSlidersH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9532" y="4119372"/>
            <a:ext cx="283464" cy="28346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035040" y="393192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Um de cada lado, raios diferentes</a:t>
            </a:r>
            <a:endParaRPr lang="en-US" sz="1700" dirty="0"/>
          </a:p>
        </p:txBody>
      </p:sp>
      <p:sp>
        <p:nvSpPr>
          <p:cNvPr id="16" name="Text 10"/>
          <p:cNvSpPr txBox="1"/>
          <p:nvPr/>
        </p:nvSpPr>
        <p:spPr>
          <a:xfrm>
            <a:off x="6035040" y="4315968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APPS 1 a 43 mm do pivô e APPS 2 a 26 mm: a geometria já dá inclinações diferentes.</a:t>
            </a:r>
            <a:endParaRPr lang="en-US" sz="1400" dirty="0"/>
          </a:p>
        </p:txBody>
      </p:sp>
      <p:sp>
        <p:nvSpPr>
          <p:cNvPr id="17" name="A item 4 círculo"/>
          <p:cNvSpPr/>
          <p:nvPr/>
        </p:nvSpPr>
        <p:spPr>
          <a:xfrm>
            <a:off x="5257800" y="5120640"/>
            <a:ext cx="566928" cy="566928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8" name="A item 4 ícone" descr="/tmp/claude-0/-home-claude/dd4db180-c8d8-51b1-b549-3a5e3e44c9d0/scratchpad/deck/assets/ic_FaShieldAlt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9532" y="5262372"/>
            <a:ext cx="283464" cy="28346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035040" y="507492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Batentes e molas no pedal</a:t>
            </a:r>
            <a:endParaRPr lang="en-US" sz="1700" dirty="0"/>
          </a:p>
        </p:txBody>
      </p:sp>
      <p:sp>
        <p:nvSpPr>
          <p:cNvPr id="20" name="Text 13"/>
          <p:cNvSpPr txBox="1"/>
          <p:nvPr/>
        </p:nvSpPr>
        <p:spPr>
          <a:xfrm>
            <a:off x="6035040" y="5458968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 fim de curso do sensor nunca faz papel de batente.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ARQUITETURA A · FUNCIONAMENTO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94944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Biela perpendicular ao braço no meio do curso</a:t>
            </a:r>
            <a:endParaRPr lang="en-US" sz="3000" dirty="0"/>
          </a:p>
        </p:txBody>
      </p:sp>
      <p:pic>
        <p:nvPicPr>
          <p:cNvPr id="4" name="Esquema lateral da geometria" descr="/tmp/claude-0/-home-claude/dd4db180-c8d8-51b1-b549-3a5e3e44c9d0/scratchpad/deck/assets/A2_linear_s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4303166" cy="4754880"/>
          </a:xfrm>
          <a:prstGeom prst="rect">
            <a:avLst/>
          </a:prstGeom>
        </p:spPr>
      </p:pic>
      <p:sp>
        <p:nvSpPr>
          <p:cNvPr id="5" name="card fórmula"/>
          <p:cNvSpPr/>
          <p:nvPr/>
        </p:nvSpPr>
        <p:spPr>
          <a:xfrm>
            <a:off x="5349240" y="1600200"/>
            <a:ext cx="6291072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577840" y="175564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Comprimento entre centros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577840" y="205740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L(θ) = √( r² + d² − 2·r·d·cos(θ + θ₀) )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577840" y="25146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Biela perpendicular ao braço em 60°  →  curso ≈ 2·r·sen(Δθ/2)</a:t>
            </a:r>
            <a:endParaRPr lang="en-US" sz="1400" dirty="0"/>
          </a:p>
        </p:txBody>
      </p:sp>
      <p:sp>
        <p:nvSpPr>
          <p:cNvPr id="9" name="stat 1"/>
          <p:cNvSpPr/>
          <p:nvPr/>
        </p:nvSpPr>
        <p:spPr>
          <a:xfrm>
            <a:off x="5349240" y="3200400"/>
            <a:ext cx="19659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513832" y="33832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0,1%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5513832" y="39776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erro de linearidade entre ângulo e curso</a:t>
            </a:r>
            <a:endParaRPr lang="en-US" sz="1250" dirty="0"/>
          </a:p>
        </p:txBody>
      </p:sp>
      <p:sp>
        <p:nvSpPr>
          <p:cNvPr id="12" name="stat 2"/>
          <p:cNvSpPr/>
          <p:nvPr/>
        </p:nvSpPr>
        <p:spPr>
          <a:xfrm>
            <a:off x="7479792" y="3200400"/>
            <a:ext cx="19659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644384" y="33832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15 | 9 mm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7644384" y="39776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curso usado dos 25 mm (APPS 1 | APPS 2)</a:t>
            </a:r>
            <a:endParaRPr lang="en-US" sz="1250" dirty="0"/>
          </a:p>
        </p:txBody>
      </p:sp>
      <p:sp>
        <p:nvSpPr>
          <p:cNvPr id="15" name="stat 3"/>
          <p:cNvSpPr/>
          <p:nvPr/>
        </p:nvSpPr>
        <p:spPr>
          <a:xfrm>
            <a:off x="9610344" y="3200400"/>
            <a:ext cx="19659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774936" y="33832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0,7 | 1,1%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774936" y="39776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do curso por 0,1 mm de folga na rótula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5349240" y="5029200"/>
            <a:ext cx="62910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Faixa de cada sensor: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APPS 1 de 1,3 a 4,3 V (26% → 86% da trilha); APPS 2 de 0,7 a 2,5 V (14% → 50%).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Premissas: curso de 70° → 50° e 110 mm entre centros. O datasheet do KPM12J define onde ficam os garfos.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ARQUITETURA B · SENSOR HALL ANGULAR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94944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Sensor fixo no garfo, ímã girando com o eixo</a:t>
            </a:r>
            <a:endParaRPr lang="en-US" sz="3000" dirty="0"/>
          </a:p>
        </p:txBody>
      </p:sp>
      <p:pic>
        <p:nvPicPr>
          <p:cNvPr id="4" name="Render arquitetura B" descr="/tmp/claude-0/-home-claude/dd4db180-c8d8-51b1-b549-3a5e3e44c9d0/scratchpad/deck/assets/B1_hall_3d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3932286" cy="4754880"/>
          </a:xfrm>
          <a:prstGeom prst="rect">
            <a:avLst/>
          </a:prstGeom>
        </p:spPr>
      </p:pic>
      <p:pic>
        <p:nvPicPr>
          <p:cNvPr id="5" name="Detalhe do sensor Hall" descr="/tmp/claude-0/-home-claude/dd4db180-c8d8-51b1-b549-3a5e3e44c9d0/scratchpad/deck/assets/B2_hall_clo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08760"/>
            <a:ext cx="4114800" cy="4114800"/>
          </a:xfrm>
          <a:prstGeom prst="rect">
            <a:avLst/>
          </a:prstGeom>
        </p:spPr>
      </p:pic>
      <p:sp>
        <p:nvSpPr>
          <p:cNvPr id="6" name="linha Flange no garfo"/>
          <p:cNvSpPr/>
          <p:nvPr/>
        </p:nvSpPr>
        <p:spPr>
          <a:xfrm flipV="1">
            <a:off x="6085332" y="1874520"/>
            <a:ext cx="3378708" cy="457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7" name="ponto Flange no garfo"/>
          <p:cNvSpPr/>
          <p:nvPr/>
        </p:nvSpPr>
        <p:spPr>
          <a:xfrm>
            <a:off x="6030468" y="2276856"/>
            <a:ext cx="109728" cy="109728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9537192" y="170992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Flange no garfo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9537192" y="203911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parafusado, estático</a:t>
            </a:r>
            <a:endParaRPr lang="en-US" sz="1250" dirty="0"/>
          </a:p>
        </p:txBody>
      </p:sp>
      <p:sp>
        <p:nvSpPr>
          <p:cNvPr id="10" name="linha Tampa do sensor"/>
          <p:cNvSpPr/>
          <p:nvPr/>
        </p:nvSpPr>
        <p:spPr>
          <a:xfrm flipV="1">
            <a:off x="7731252" y="2880360"/>
            <a:ext cx="1732788" cy="356616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1" name="ponto Tampa do sensor"/>
          <p:cNvSpPr/>
          <p:nvPr/>
        </p:nvSpPr>
        <p:spPr>
          <a:xfrm>
            <a:off x="7676388" y="3182112"/>
            <a:ext cx="109728" cy="109728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537192" y="271576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Tampa do sensor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9537192" y="304495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presa no garfo</a:t>
            </a:r>
            <a:endParaRPr lang="en-US" sz="1250" dirty="0"/>
          </a:p>
        </p:txBody>
      </p:sp>
      <p:sp>
        <p:nvSpPr>
          <p:cNvPr id="14" name="linha Ímã diametral Ø8"/>
          <p:cNvSpPr/>
          <p:nvPr/>
        </p:nvSpPr>
        <p:spPr>
          <a:xfrm>
            <a:off x="6830111" y="3380994"/>
            <a:ext cx="2633929" cy="505206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5" name="ponto Ímã diametral Ø8"/>
          <p:cNvSpPr/>
          <p:nvPr/>
        </p:nvSpPr>
        <p:spPr>
          <a:xfrm>
            <a:off x="6775247" y="3326130"/>
            <a:ext cx="109728" cy="109728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9537192" y="372160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Ímã diametral Ø8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9537192" y="405079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gira com o eixo</a:t>
            </a:r>
            <a:endParaRPr lang="en-US" sz="1250" dirty="0"/>
          </a:p>
        </p:txBody>
      </p:sp>
      <p:sp>
        <p:nvSpPr>
          <p:cNvPr id="18" name="linha CI Hall + PCB"/>
          <p:cNvSpPr/>
          <p:nvPr/>
        </p:nvSpPr>
        <p:spPr>
          <a:xfrm>
            <a:off x="7072884" y="4059936"/>
            <a:ext cx="2391156" cy="832104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9" name="ponto CI Hall + PCB"/>
          <p:cNvSpPr/>
          <p:nvPr/>
        </p:nvSpPr>
        <p:spPr>
          <a:xfrm>
            <a:off x="7018020" y="4005072"/>
            <a:ext cx="109728" cy="109728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9537192" y="472744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CI Hall + PCB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9537192" y="505663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fixo, ~1,5 mm do ímã</a:t>
            </a:r>
            <a:endParaRPr lang="en-US" sz="1250" dirty="0"/>
          </a:p>
        </p:txBody>
      </p:sp>
      <p:sp>
        <p:nvSpPr>
          <p:cNvPr id="22" name="card sem bielas"/>
          <p:cNvSpPr/>
          <p:nvPr/>
        </p:nvSpPr>
        <p:spPr>
          <a:xfrm>
            <a:off x="4892040" y="5715000"/>
            <a:ext cx="6748272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5074920" y="57150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Sem bielas: o eixo é travado no braço por pino e gira em buchas; cada ponta leva um ímã.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ARQUITETURA B · FUNCIONAMENTO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94944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Cada CI lê o ângulo do campo e vê o giro espelhado</a:t>
            </a:r>
            <a:endParaRPr lang="en-US" sz="3000" dirty="0"/>
          </a:p>
        </p:txBody>
      </p:sp>
      <p:pic>
        <p:nvPicPr>
          <p:cNvPr id="4" name="mostrador APPS 1 · esquerdo" descr="/tmp/claude-0/-home-claude/dd4db180-c8d8-51b1-b549-3a5e3e44c9d0/scratchpad/deck/assets/dial_apps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2377440" cy="2377440"/>
          </a:xfrm>
          <a:prstGeom prst="rect">
            <a:avLst/>
          </a:prstGeom>
        </p:spPr>
      </p:pic>
      <p:sp>
        <p:nvSpPr>
          <p:cNvPr id="5" name="marcador APPS 1 · esquerdo"/>
          <p:cNvSpPr/>
          <p:nvPr/>
        </p:nvSpPr>
        <p:spPr>
          <a:xfrm>
            <a:off x="566928" y="4270248"/>
            <a:ext cx="146304" cy="14630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04672" y="418795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APPS 1 · esquerdo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04672" y="44988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vê o giro horário</a:t>
            </a:r>
            <a:endParaRPr lang="en-US" sz="1300" dirty="0"/>
          </a:p>
        </p:txBody>
      </p:sp>
      <p:pic>
        <p:nvPicPr>
          <p:cNvPr id="8" name="mostrador APPS 2 · direito" descr="/tmp/claude-0/-home-claude/dd4db180-c8d8-51b1-b549-3a5e3e44c9d0/scratchpad/deck/assets/dial_apps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1691640"/>
            <a:ext cx="2377440" cy="2377440"/>
          </a:xfrm>
          <a:prstGeom prst="rect">
            <a:avLst/>
          </a:prstGeom>
        </p:spPr>
      </p:pic>
      <p:sp>
        <p:nvSpPr>
          <p:cNvPr id="9" name="marcador APPS 2 · direito"/>
          <p:cNvSpPr/>
          <p:nvPr/>
        </p:nvSpPr>
        <p:spPr>
          <a:xfrm>
            <a:off x="3172968" y="4270248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3410712" y="418795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APPS 2 · direito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3410712" y="44988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vê o giro anti-horário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52578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Mesmo ímã, mesmo eixo: cada CI olha de um lado. Em cinza claro, o ímã com o pedal no fim de curso.</a:t>
            </a:r>
            <a:endParaRPr lang="en-US" sz="1300" dirty="0"/>
          </a:p>
        </p:txBody>
      </p:sp>
      <p:sp>
        <p:nvSpPr>
          <p:cNvPr id="13" name="número 1"/>
          <p:cNvSpPr/>
          <p:nvPr/>
        </p:nvSpPr>
        <p:spPr>
          <a:xfrm>
            <a:off x="5897880" y="164592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número texto 1"/>
          <p:cNvSpPr txBox="1"/>
          <p:nvPr/>
        </p:nvSpPr>
        <p:spPr>
          <a:xfrm>
            <a:off x="58978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537960" y="1682496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Mede o ângulo do campo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6537960" y="2066544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Os elementos Hall medem as componentes do campo no plano do chip; o ângulo sai de atan2. Sem contato e sem desgaste.</a:t>
            </a:r>
            <a:endParaRPr lang="en-US" sz="1400" dirty="0"/>
          </a:p>
        </p:txBody>
      </p:sp>
      <p:sp>
        <p:nvSpPr>
          <p:cNvPr id="17" name="número 2"/>
          <p:cNvSpPr/>
          <p:nvPr/>
        </p:nvSpPr>
        <p:spPr>
          <a:xfrm>
            <a:off x="5897880" y="301752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número texto 2"/>
          <p:cNvSpPr txBox="1"/>
          <p:nvPr/>
        </p:nvSpPr>
        <p:spPr>
          <a:xfrm>
            <a:off x="58978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6537960" y="3054096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Inverte o sentido em um dos CIs</a:t>
            </a:r>
            <a:endParaRPr lang="en-US" sz="1700" dirty="0"/>
          </a:p>
        </p:txBody>
      </p:sp>
      <p:sp>
        <p:nvSpPr>
          <p:cNvPr id="20" name="Text 16"/>
          <p:cNvSpPr txBox="1"/>
          <p:nvPr/>
        </p:nvSpPr>
        <p:spPr>
          <a:xfrm>
            <a:off x="6537960" y="3438144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Lados opostos veem rotações opostas: o sentido (DIR) é programado diferente para os dois sinais subirem ao pisar.</a:t>
            </a:r>
            <a:endParaRPr lang="en-US" sz="1400" dirty="0"/>
          </a:p>
        </p:txBody>
      </p:sp>
      <p:sp>
        <p:nvSpPr>
          <p:cNvPr id="21" name="número 3"/>
          <p:cNvSpPr/>
          <p:nvPr/>
        </p:nvSpPr>
        <p:spPr>
          <a:xfrm>
            <a:off x="5897880" y="438912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2" name="número texto 3"/>
          <p:cNvSpPr txBox="1"/>
          <p:nvPr/>
        </p:nvSpPr>
        <p:spPr>
          <a:xfrm>
            <a:off x="589788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6537960" y="4425696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Programa zero e faixa</a:t>
            </a:r>
            <a:endParaRPr lang="en-US" sz="1700" dirty="0"/>
          </a:p>
        </p:txBody>
      </p:sp>
      <p:sp>
        <p:nvSpPr>
          <p:cNvPr id="24" name="Text 20"/>
          <p:cNvSpPr txBox="1"/>
          <p:nvPr/>
        </p:nvSpPr>
        <p:spPr>
          <a:xfrm>
            <a:off x="6537960" y="4809744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APPS 1: faixa de 26,7°, zero 5,3° antes do repouso → 1,3 a 4,3 V. APPS 2: faixa de 44,4°, zero 2,2° antes → 0,7 a 2,5 V.</a:t>
            </a:r>
            <a:endParaRPr lang="en-US" sz="1400" dirty="0"/>
          </a:p>
        </p:txBody>
      </p:sp>
      <p:sp>
        <p:nvSpPr>
          <p:cNvPr id="25" name="card nota CIs"/>
          <p:cNvSpPr/>
          <p:nvPr/>
        </p:nvSpPr>
        <p:spPr>
          <a:xfrm>
            <a:off x="5897880" y="5715000"/>
            <a:ext cx="5742432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6053328" y="57150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AS5600: faixa programável mínima de 18°. MLX90316: saída e diagnóstico programáveis.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FUNÇÕES DE TRANSFERÊNCIA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94944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Mesmas saídas nas duas arquiteturas, sem cruzar</a:t>
            </a:r>
            <a:endParaRPr lang="en-US" sz="3000" dirty="0"/>
          </a:p>
        </p:txBody>
      </p:sp>
      <p:graphicFrame>
        <p:nvGraphicFramePr>
          <p:cNvPr id="4" name="Gráfico funções de transferência" descr=""/>
          <p:cNvGraphicFramePr/>
          <p:nvPr/>
        </p:nvGraphicFramePr>
        <p:xfrm>
          <a:off x="457200" y="1508760"/>
          <a:ext cx="557784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Gráfico diferença entre sinais" descr=""/>
          <p:cNvGraphicFramePr/>
          <p:nvPr/>
        </p:nvGraphicFramePr>
        <p:xfrm>
          <a:off x="6153912" y="1508760"/>
          <a:ext cx="557784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card comparador"/>
          <p:cNvSpPr/>
          <p:nvPr/>
        </p:nvSpPr>
        <p:spPr>
          <a:xfrm>
            <a:off x="548640" y="5303520"/>
            <a:ext cx="54864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731520" y="5376672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Comparador da PDM: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comparar em % de curso, p.ex. V₁ esperado = 1,667·V₂ + 0,13 V (ganho e offset no APPS 2), ou fazer a checagem no firmware.</a:t>
            </a:r>
            <a:endParaRPr lang="en-US" sz="1300" dirty="0"/>
          </a:p>
        </p:txBody>
      </p:sp>
      <p:sp>
        <p:nvSpPr>
          <p:cNvPr id="8" name="card correção"/>
          <p:cNvSpPr/>
          <p:nvPr/>
        </p:nvSpPr>
        <p:spPr>
          <a:xfrm>
            <a:off x="6153912" y="5303520"/>
            <a:ext cx="5486400" cy="914400"/>
          </a:xfrm>
          <a:prstGeom prst="roundRect">
            <a:avLst>
              <a:gd name="adj" fmla="val 8000"/>
            </a:avLst>
          </a:prstGeom>
          <a:solidFill>
            <a:schemeClr val="accent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336792" y="5376672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Correção: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as funções propostas antes cruzavam em ~51% (pot.) e ~60% (Hall) do curso. As novas mantêm pelo menos 0,72 V acima de 10%.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CONFORMIDADE · FSAE 2027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94944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As duas atendem a T.4.2 com as funções revisadas</a:t>
            </a:r>
            <a:endParaRPr lang="en-US" sz="3000" dirty="0"/>
          </a:p>
        </p:txBody>
      </p:sp>
      <p:graphicFrame>
        <p:nvGraphicFramePr>
          <p:cNvPr id="10" name="Tabela de conformidad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3429000"/>
                <a:gridCol w="3831336"/>
                <a:gridCol w="383133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Requisito</a:t>
                      </a:r>
                      <a:endParaRPr lang="en-US" sz="135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A · Potenciômetro linear</a:t>
                      </a:r>
                      <a:endParaRPr lang="en-US" sz="135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B · Sensor Hall</a:t>
                      </a:r>
                      <a:endParaRPr lang="en-US" sz="135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T.4.2.1  </a:t>
                      </a:r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</a:rPr>
                        <a:t>Duas molas de retorno</a:t>
                      </a:r>
                      <a:endParaRPr lang="en-US" sz="135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3"/>
                          </a:solidFill>
                        </a:rPr>
                        <a:t>OK  </a:t>
                      </a:r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molas no pedal, independentes do sensor</a:t>
                      </a:r>
                      <a:endParaRPr lang="en-US" sz="135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3"/>
                          </a:solidFill>
                        </a:rPr>
                        <a:t>OK  </a:t>
                      </a:r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idem</a:t>
                      </a:r>
                      <a:endParaRPr lang="en-US" sz="135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T.4.2.2  </a:t>
                      </a:r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</a:rPr>
                        <a:t>Sensores separados</a:t>
                      </a:r>
                      <a:endParaRPr lang="en-US" sz="135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3"/>
                          </a:solidFill>
                        </a:rPr>
                        <a:t>OK  </a:t>
                      </a:r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2 KPM12J com chicotes próprios</a:t>
                      </a:r>
                      <a:endParaRPr lang="en-US" sz="135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3"/>
                          </a:solidFill>
                        </a:rPr>
                        <a:t>OK  </a:t>
                      </a:r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2 CIs em PCBs e chicotes próprios</a:t>
                      </a:r>
                      <a:endParaRPr lang="en-US" sz="135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T.4.2.3  </a:t>
                      </a:r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</a:rPr>
                        <a:t>Funções diferentes</a:t>
                      </a:r>
                      <a:endParaRPr lang="en-US" sz="135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3"/>
                          </a:solidFill>
                        </a:rPr>
                        <a:t>OK  </a:t>
                      </a:r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raios 43 / 26 mm + posição no curso</a:t>
                      </a:r>
                      <a:endParaRPr lang="en-US" sz="135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3"/>
                          </a:solidFill>
                        </a:rPr>
                        <a:t>OK  </a:t>
                      </a:r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zero e faixa programados</a:t>
                      </a:r>
                      <a:endParaRPr lang="en-US" sz="135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T.4.2.3  </a:t>
                      </a:r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</a:rPr>
                        <a:t>Aberto vai a 0%</a:t>
                      </a:r>
                      <a:endParaRPr lang="en-US" sz="135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3"/>
                          </a:solidFill>
                        </a:rPr>
                        <a:t>OK  </a:t>
                      </a:r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pull-down no controlador</a:t>
                      </a:r>
                      <a:endParaRPr lang="en-US" sz="135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3"/>
                          </a:solidFill>
                        </a:rPr>
                        <a:t>OK  </a:t>
                      </a:r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pull-down no controlador</a:t>
                      </a:r>
                      <a:endParaRPr lang="en-US" sz="135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T.4.2.3  </a:t>
                      </a:r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</a:rPr>
                        <a:t>≥ 10% de diferença</a:t>
                      </a:r>
                      <a:endParaRPr lang="en-US" sz="135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3"/>
                          </a:solidFill>
                        </a:rPr>
                        <a:t>OK  </a:t>
                      </a:r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ΔV ≥ 0,72 V (14%) acima de 10%</a:t>
                      </a:r>
                      <a:endParaRPr lang="en-US" sz="135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3"/>
                          </a:solidFill>
                        </a:rPr>
                        <a:t>OK  </a:t>
                      </a:r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idem</a:t>
                      </a:r>
                      <a:endParaRPr lang="en-US" sz="135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T.4.2.4–5  </a:t>
                      </a:r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</a:rPr>
                        <a:t>Implausibilidade</a:t>
                      </a:r>
                      <a:endParaRPr lang="en-US" sz="135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4"/>
                          </a:solidFill>
                        </a:rPr>
                        <a:t>ATENÇÃO  </a:t>
                      </a:r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PDM e firmware comparando % de curso</a:t>
                      </a:r>
                      <a:endParaRPr lang="en-US" sz="135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4"/>
                          </a:solidFill>
                        </a:rPr>
                        <a:t>ATENÇÃO  </a:t>
                      </a:r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idem</a:t>
                      </a:r>
                      <a:endParaRPr lang="en-US" sz="135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T.4.2.7  </a:t>
                      </a:r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</a:rPr>
                        <a:t>Conector destacável</a:t>
                      </a:r>
                      <a:endParaRPr lang="en-US" sz="135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3"/>
                          </a:solidFill>
                        </a:rPr>
                        <a:t>OK  </a:t>
                      </a:r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um conector por sensor</a:t>
                      </a:r>
                      <a:endParaRPr lang="en-US" sz="135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3"/>
                          </a:solidFill>
                        </a:rPr>
                        <a:t>OK  </a:t>
                      </a:r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um conector por sensor</a:t>
                      </a:r>
                      <a:endParaRPr lang="en-US" sz="135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T.4.2.10  </a:t>
                      </a:r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</a:rPr>
                        <a:t>Falha fora da faixa</a:t>
                      </a:r>
                      <a:endParaRPr lang="en-US" sz="135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3"/>
                          </a:solidFill>
                        </a:rPr>
                        <a:t>OK  </a:t>
                      </a:r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faixa útil de 0,7 a 4,3 V</a:t>
                      </a:r>
                      <a:endParaRPr lang="en-US" sz="135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3"/>
                          </a:solidFill>
                        </a:rPr>
                        <a:t>OK  </a:t>
                      </a:r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idem; MLX com diagnóstico interno</a:t>
                      </a:r>
                      <a:endParaRPr lang="en-US" sz="135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ATENÇÃO: a regra é atendida pelo sensor, mas depende de a PDM comparar valores normalizados — hoje ela compara tensões.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REVISÃO DE FALHAS · 1/2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94944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Falhas elétricas: as duas detectam do mesmo jeito</a:t>
            </a:r>
            <a:endParaRPr lang="en-US" sz="3000" dirty="0"/>
          </a:p>
        </p:txBody>
      </p:sp>
      <p:graphicFrame>
        <p:nvGraphicFramePr>
          <p:cNvPr id="11" name="Tabela falhas elétrica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566160"/>
                <a:gridCol w="450799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Falha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 que o sinal faz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Como é detectada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Fio de sinal aberto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vai a 0 V pelo pull-down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&lt; 0,5 V → falha (T.4.2.10)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Curto ao GND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vai a 0 V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&lt; 0,5 V → falha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Curto ao 5 V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vai a 5 V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&gt; 4,5 V → falha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Perda da alimentação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vai a 0 V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&lt; 0,5 V → falha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Perda do GND do sensor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pot.: sobe a 5 V · Hall: saída indefinida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pot.: &gt; 4,5 V · Hall: validar em bancada (pull-down + diagnóstico do CI)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Curto entre APPS 1 e APPS 2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os dois sinais ficam iguais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as % de curso divergem &gt; 10 p.p. → implausibilidade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card requisito elétrico"/>
          <p:cNvSpPr/>
          <p:nvPr/>
        </p:nvSpPr>
        <p:spPr>
          <a:xfrm>
            <a:off x="548640" y="5486400"/>
            <a:ext cx="11091672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pic>
        <p:nvPicPr>
          <p:cNvPr id="6" name="plug ícone" descr="/tmp/claude-0/-home-claude/dd4db180-c8d8-51b1-b549-3a5e3e44c9d0/scratchpad/deck/assets/ic_FaPlug_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62356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80160" y="548640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Requisito para as duas: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pull-down na entrada do controlador e janela de 0,5 a 4,5 V em cada canal, com falha confirmada em 100 ms.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REVISÃO DE FALHAS · 2/2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94944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Falhas mecânicas: onde cada arquitetura é frágil</a:t>
            </a:r>
            <a:endParaRPr lang="en-US" sz="3000" dirty="0"/>
          </a:p>
        </p:txBody>
      </p:sp>
      <p:sp>
        <p:nvSpPr>
          <p:cNvPr id="4" name="marcador A · Potenciômetro linear"/>
          <p:cNvSpPr/>
          <p:nvPr/>
        </p:nvSpPr>
        <p:spPr>
          <a:xfrm>
            <a:off x="548640" y="1673352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6112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· Potenciômetro linear</a:t>
            </a:r>
            <a:endParaRPr lang="en-US" sz="1800" dirty="0"/>
          </a:p>
        </p:txBody>
      </p:sp>
      <p:sp>
        <p:nvSpPr>
          <p:cNvPr id="6" name="card A · Potenciômetro linear 1"/>
          <p:cNvSpPr/>
          <p:nvPr/>
        </p:nvSpPr>
        <p:spPr>
          <a:xfrm>
            <a:off x="548640" y="2148840"/>
            <a:ext cx="54406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30428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Rótula ou biela quebrada</a:t>
            </a:r>
            <a:endParaRPr lang="en-US" sz="1500" dirty="0"/>
          </a:p>
        </p:txBody>
      </p:sp>
      <p:sp>
        <p:nvSpPr>
          <p:cNvPr id="8" name="tag Detectável"/>
          <p:cNvSpPr/>
          <p:nvPr/>
        </p:nvSpPr>
        <p:spPr>
          <a:xfrm>
            <a:off x="4480560" y="2304288"/>
            <a:ext cx="1325880" cy="292608"/>
          </a:xfrm>
          <a:prstGeom prst="roundRect">
            <a:avLst>
              <a:gd name="adj" fmla="val 18750"/>
            </a:avLst>
          </a:prstGeom>
          <a:solidFill>
            <a:srgbClr val="E3F2E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80560" y="230428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accent3"/>
                </a:solidFill>
              </a:rPr>
              <a:t>Detectável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679192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O sensor para de seguir o pedal; o outro APPS diverge e gera implausibilidade.</a:t>
            </a:r>
            <a:endParaRPr lang="en-US" sz="1350" dirty="0"/>
          </a:p>
        </p:txBody>
      </p:sp>
      <p:sp>
        <p:nvSpPr>
          <p:cNvPr id="11" name="card A · Potenciômetro linear 2"/>
          <p:cNvSpPr/>
          <p:nvPr/>
        </p:nvSpPr>
        <p:spPr>
          <a:xfrm>
            <a:off x="548640" y="3520440"/>
            <a:ext cx="54406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367588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Desgaste da trilha por vibração</a:t>
            </a:r>
            <a:endParaRPr lang="en-US" sz="1500" dirty="0"/>
          </a:p>
        </p:txBody>
      </p:sp>
      <p:sp>
        <p:nvSpPr>
          <p:cNvPr id="13" name="tag Parcial"/>
          <p:cNvSpPr/>
          <p:nvPr/>
        </p:nvSpPr>
        <p:spPr>
          <a:xfrm>
            <a:off x="4480560" y="3675888"/>
            <a:ext cx="1325880" cy="292608"/>
          </a:xfrm>
          <a:prstGeom prst="roundRect">
            <a:avLst>
              <a:gd name="adj" fmla="val 18750"/>
            </a:avLst>
          </a:prstGeom>
          <a:solidFill>
            <a:srgbClr val="FFF1D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480560" y="367588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accent4"/>
                </a:solidFill>
              </a:rPr>
              <a:t>Parcial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4050792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Ruído e picos no sinal. Filtro + janela; vida útil a confirmar no datasheet.</a:t>
            </a:r>
            <a:endParaRPr lang="en-US" sz="1350" dirty="0"/>
          </a:p>
        </p:txBody>
      </p:sp>
      <p:sp>
        <p:nvSpPr>
          <p:cNvPr id="16" name="card A · Potenciômetro linear 3"/>
          <p:cNvSpPr/>
          <p:nvPr/>
        </p:nvSpPr>
        <p:spPr>
          <a:xfrm>
            <a:off x="548640" y="4892040"/>
            <a:ext cx="54406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9808" y="504748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Folga nas rótulas</a:t>
            </a:r>
            <a:endParaRPr lang="en-US" sz="1500" dirty="0"/>
          </a:p>
        </p:txBody>
      </p:sp>
      <p:sp>
        <p:nvSpPr>
          <p:cNvPr id="18" name="tag Parcial"/>
          <p:cNvSpPr/>
          <p:nvPr/>
        </p:nvSpPr>
        <p:spPr>
          <a:xfrm>
            <a:off x="4480560" y="5047488"/>
            <a:ext cx="1325880" cy="292608"/>
          </a:xfrm>
          <a:prstGeom prst="roundRect">
            <a:avLst>
              <a:gd name="adj" fmla="val 18750"/>
            </a:avLst>
          </a:prstGeom>
          <a:solidFill>
            <a:srgbClr val="FFF1D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480560" y="504748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accent4"/>
                </a:solidFill>
              </a:rPr>
              <a:t>Parcial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49808" y="5422392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0,1 mm vira 0,7% (APPS 1) ou 1,1% (APPS 2) do curso. Usar rótulas de baixa folga.</a:t>
            </a:r>
            <a:endParaRPr lang="en-US" sz="1350" dirty="0"/>
          </a:p>
        </p:txBody>
      </p:sp>
      <p:sp>
        <p:nvSpPr>
          <p:cNvPr id="21" name="marcador B · Sensor Hall"/>
          <p:cNvSpPr/>
          <p:nvPr/>
        </p:nvSpPr>
        <p:spPr>
          <a:xfrm>
            <a:off x="6199632" y="1673352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47104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 · Sensor Hall</a:t>
            </a:r>
            <a:endParaRPr lang="en-US" sz="1800" dirty="0"/>
          </a:p>
        </p:txBody>
      </p:sp>
      <p:sp>
        <p:nvSpPr>
          <p:cNvPr id="23" name="card B · Sensor Hall 1"/>
          <p:cNvSpPr/>
          <p:nvPr/>
        </p:nvSpPr>
        <p:spPr>
          <a:xfrm>
            <a:off x="6199632" y="2148840"/>
            <a:ext cx="54406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0" y="230428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Ímã solto ou com folga no eixo</a:t>
            </a:r>
            <a:endParaRPr lang="en-US" sz="1500" dirty="0"/>
          </a:p>
        </p:txBody>
      </p:sp>
      <p:sp>
        <p:nvSpPr>
          <p:cNvPr id="25" name="tag Pode passar"/>
          <p:cNvSpPr/>
          <p:nvPr/>
        </p:nvSpPr>
        <p:spPr>
          <a:xfrm>
            <a:off x="10131552" y="2304288"/>
            <a:ext cx="1325880" cy="292608"/>
          </a:xfrm>
          <a:prstGeom prst="roundRect">
            <a:avLst>
              <a:gd name="adj" fmla="val 18750"/>
            </a:avLst>
          </a:prstGeom>
          <a:solidFill>
            <a:schemeClr val="accent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131552" y="230428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Pode passar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0" y="2679192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1° vira 5 p.p.; só passa de 10 p.p. acima de 2°. Ímã colado e travado com pino.</a:t>
            </a:r>
            <a:endParaRPr lang="en-US" sz="1350" dirty="0"/>
          </a:p>
        </p:txBody>
      </p:sp>
      <p:sp>
        <p:nvSpPr>
          <p:cNvPr id="28" name="card B · Sensor Hall 2"/>
          <p:cNvSpPr/>
          <p:nvPr/>
        </p:nvSpPr>
        <p:spPr>
          <a:xfrm>
            <a:off x="6199632" y="3520440"/>
            <a:ext cx="54406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0" y="367588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Campo magnético externo</a:t>
            </a:r>
            <a:endParaRPr lang="en-US" sz="1500" dirty="0"/>
          </a:p>
        </p:txBody>
      </p:sp>
      <p:sp>
        <p:nvSpPr>
          <p:cNvPr id="30" name="tag Pode passar"/>
          <p:cNvSpPr/>
          <p:nvPr/>
        </p:nvSpPr>
        <p:spPr>
          <a:xfrm>
            <a:off x="10131552" y="3675888"/>
            <a:ext cx="1325880" cy="292608"/>
          </a:xfrm>
          <a:prstGeom prst="roundRect">
            <a:avLst>
              <a:gd name="adj" fmla="val 18750"/>
            </a:avLst>
          </a:prstGeom>
          <a:solidFill>
            <a:schemeClr val="accent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131552" y="367588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Pode passar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400800" y="4050792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Erro de ângulo sem alarme. Afastar chicotes de corrente alta; avaliar CI imune a campo disperso.</a:t>
            </a:r>
            <a:endParaRPr lang="en-US" sz="1350" dirty="0"/>
          </a:p>
        </p:txBody>
      </p:sp>
      <p:sp>
        <p:nvSpPr>
          <p:cNvPr id="33" name="card B · Sensor Hall 3"/>
          <p:cNvSpPr/>
          <p:nvPr/>
        </p:nvSpPr>
        <p:spPr>
          <a:xfrm>
            <a:off x="6199632" y="4892040"/>
            <a:ext cx="54406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400800" y="504748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Programação errada (DIR, zero)</a:t>
            </a:r>
            <a:endParaRPr lang="en-US" sz="1500" dirty="0"/>
          </a:p>
        </p:txBody>
      </p:sp>
      <p:sp>
        <p:nvSpPr>
          <p:cNvPr id="35" name="tag Detectável"/>
          <p:cNvSpPr/>
          <p:nvPr/>
        </p:nvSpPr>
        <p:spPr>
          <a:xfrm>
            <a:off x="10131552" y="5047488"/>
            <a:ext cx="1325880" cy="292608"/>
          </a:xfrm>
          <a:prstGeom prst="roundRect">
            <a:avLst>
              <a:gd name="adj" fmla="val 18750"/>
            </a:avLst>
          </a:prstGeom>
          <a:solidFill>
            <a:srgbClr val="E3F2E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0131552" y="504748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accent3"/>
                </a:solidFill>
              </a:rPr>
              <a:t>Detectável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6400800" y="5422392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Sinal invertido ou saturado. Teste de fim de linha: varrer 0 a 100% e conferir as tensões.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COMPARAÇÃO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94944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Prós e contras de cada arquitetura</a:t>
            </a:r>
            <a:endParaRPr lang="en-US" sz="3000" dirty="0"/>
          </a:p>
        </p:txBody>
      </p:sp>
      <p:sp>
        <p:nvSpPr>
          <p:cNvPr id="4" name="card A · Potenciômetro linear"/>
          <p:cNvSpPr/>
          <p:nvPr/>
        </p:nvSpPr>
        <p:spPr>
          <a:xfrm>
            <a:off x="548640" y="1600200"/>
            <a:ext cx="5440680" cy="4572000"/>
          </a:xfrm>
          <a:prstGeom prst="roundRect">
            <a:avLst>
              <a:gd name="adj" fmla="val 1600"/>
            </a:avLst>
          </a:prstGeom>
          <a:solidFill>
            <a:schemeClr val="bg2"/>
          </a:solidFill>
          <a:ln/>
        </p:spPr>
      </p:sp>
      <p:sp>
        <p:nvSpPr>
          <p:cNvPr id="5" name="marcador A · Potenciômetro linear"/>
          <p:cNvSpPr/>
          <p:nvPr/>
        </p:nvSpPr>
        <p:spPr>
          <a:xfrm>
            <a:off x="777240" y="1828800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15568" y="17556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· Potenciômetro linear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Prós</a:t>
            </a:r>
            <a:endParaRPr lang="en-US" sz="1300" dirty="0"/>
          </a:p>
        </p:txBody>
      </p:sp>
      <p:pic>
        <p:nvPicPr>
          <p:cNvPr id="8" name="Prós A · Potenciômetro linear 1" descr="/tmp/claude-0/-home-claude/dd4db180-c8d8-51b1-b549-3a5e3e44c9d0/scratchpad/deck/assets/ic_FaPlus_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2752344"/>
            <a:ext cx="182880" cy="1828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15568" y="2679192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Sinal analógico direto, sem programação</a:t>
            </a:r>
            <a:endParaRPr lang="en-US" sz="1400" dirty="0"/>
          </a:p>
        </p:txBody>
      </p:sp>
      <p:pic>
        <p:nvPicPr>
          <p:cNvPr id="10" name="Prós A · Potenciômetro linear 2" descr="/tmp/claude-0/-home-claude/dd4db180-c8d8-51b1-b549-3a5e3e44c9d0/scratchpad/deck/assets/ic_FaPlus_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3118104"/>
            <a:ext cx="182880" cy="1828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15568" y="3044952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Simples de entender, calibrar e trocar</a:t>
            </a:r>
            <a:endParaRPr lang="en-US" sz="1400" dirty="0"/>
          </a:p>
        </p:txBody>
      </p:sp>
      <p:pic>
        <p:nvPicPr>
          <p:cNvPr id="12" name="Prós A · Potenciômetro linear 3" descr="/tmp/claude-0/-home-claude/dd4db180-c8d8-51b1-b549-3a5e3e44c9d0/scratchpad/deck/assets/ic_FaPlus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483864"/>
            <a:ext cx="182880" cy="1828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15568" y="3410712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Imune a campo magnético</a:t>
            </a:r>
            <a:endParaRPr lang="en-US" sz="1400" dirty="0"/>
          </a:p>
        </p:txBody>
      </p:sp>
      <p:pic>
        <p:nvPicPr>
          <p:cNvPr id="14" name="Prós A · Potenciômetro linear 4" descr="/tmp/claude-0/-home-claude/dd4db180-c8d8-51b1-b549-3a5e3e44c9d0/scratchpad/deck/assets/ic_FaPlus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3849624"/>
            <a:ext cx="182880" cy="18288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15568" y="3776472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Ganho definido pela geometria (raio)</a:t>
            </a:r>
            <a:endParaRPr lang="en-US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777240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Contras</a:t>
            </a:r>
            <a:endParaRPr lang="en-US" sz="1300" dirty="0"/>
          </a:p>
        </p:txBody>
      </p:sp>
      <p:pic>
        <p:nvPicPr>
          <p:cNvPr id="17" name="Contras A · Potenciômetro linear 1" descr="/tmp/claude-0/-home-claude/dd4db180-c8d8-51b1-b549-3a5e3e44c9d0/scratchpad/deck/assets/ic_FaMinus_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4626864"/>
            <a:ext cx="182880" cy="18288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115568" y="4553712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Contato deslizante: desgaste e ruído</a:t>
            </a:r>
            <a:endParaRPr lang="en-US" sz="1400" dirty="0"/>
          </a:p>
        </p:txBody>
      </p:sp>
      <p:pic>
        <p:nvPicPr>
          <p:cNvPr id="19" name="Contras A · Potenciômetro linear 2" descr="/tmp/claude-0/-home-claude/dd4db180-c8d8-51b1-b549-3a5e3e44c9d0/scratchpad/deck/assets/ic_FaMinus_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4992624"/>
            <a:ext cx="182880" cy="18288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115568" y="4919472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Mais peças: bielas, rótulas, garfos e folgas</a:t>
            </a:r>
            <a:endParaRPr lang="en-US" sz="1400" dirty="0"/>
          </a:p>
        </p:txBody>
      </p:sp>
      <p:pic>
        <p:nvPicPr>
          <p:cNvPr id="21" name="Contras A · Potenciômetro linear 3" descr="/tmp/claude-0/-home-claude/dd4db180-c8d8-51b1-b549-3a5e3e44c9d0/scratchpad/deck/assets/ic_FaMinus_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8" y="5358384"/>
            <a:ext cx="182880" cy="18288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1115568" y="5285232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r₂ ≈ 26 mm fica justo perto do pivô</a:t>
            </a:r>
            <a:endParaRPr lang="en-US" sz="1400" dirty="0"/>
          </a:p>
        </p:txBody>
      </p:sp>
      <p:pic>
        <p:nvPicPr>
          <p:cNvPr id="23" name="Contras A · Potenciômetro linear 4" descr="/tmp/claude-0/-home-claude/dd4db180-c8d8-51b1-b549-3a5e3e44c9d0/scratchpad/deck/assets/ic_FaMinus_a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5528" y="5724144"/>
            <a:ext cx="182880" cy="182880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1115568" y="5650992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Exige alinhamento e vedação contra sujeira</a:t>
            </a:r>
            <a:endParaRPr lang="en-US" sz="1400" dirty="0"/>
          </a:p>
        </p:txBody>
      </p:sp>
      <p:sp>
        <p:nvSpPr>
          <p:cNvPr id="25" name="card B · Sensor Hall"/>
          <p:cNvSpPr/>
          <p:nvPr/>
        </p:nvSpPr>
        <p:spPr>
          <a:xfrm>
            <a:off x="6199632" y="1600200"/>
            <a:ext cx="5440680" cy="4572000"/>
          </a:xfrm>
          <a:prstGeom prst="roundRect">
            <a:avLst>
              <a:gd name="adj" fmla="val 1600"/>
            </a:avLst>
          </a:prstGeom>
          <a:solidFill>
            <a:schemeClr val="bg2"/>
          </a:solidFill>
          <a:ln/>
        </p:spPr>
      </p:sp>
      <p:sp>
        <p:nvSpPr>
          <p:cNvPr id="26" name="marcador B · Sensor Hall"/>
          <p:cNvSpPr/>
          <p:nvPr/>
        </p:nvSpPr>
        <p:spPr>
          <a:xfrm>
            <a:off x="6428232" y="1828800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 17"/>
          <p:cNvSpPr txBox="1"/>
          <p:nvPr/>
        </p:nvSpPr>
        <p:spPr>
          <a:xfrm>
            <a:off x="6766560" y="17556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 · Sensor Hall</a:t>
            </a:r>
            <a:endParaRPr lang="en-US" sz="1800" dirty="0"/>
          </a:p>
        </p:txBody>
      </p:sp>
      <p:sp>
        <p:nvSpPr>
          <p:cNvPr id="28" name="Text 18"/>
          <p:cNvSpPr txBox="1"/>
          <p:nvPr/>
        </p:nvSpPr>
        <p:spPr>
          <a:xfrm>
            <a:off x="6428232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Prós</a:t>
            </a:r>
            <a:endParaRPr lang="en-US" sz="1300" dirty="0"/>
          </a:p>
        </p:txBody>
      </p:sp>
      <p:pic>
        <p:nvPicPr>
          <p:cNvPr id="29" name="Prós B · Sensor Hall 1" descr="/tmp/claude-0/-home-claude/dd4db180-c8d8-51b1-b549-3a5e3e44c9d0/scratchpad/deck/assets/ic_FaPlus_g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2752344"/>
            <a:ext cx="182880" cy="182880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6766560" y="2679192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Sem contato e sem desgaste</a:t>
            </a:r>
            <a:endParaRPr lang="en-US" sz="1400" dirty="0"/>
          </a:p>
        </p:txBody>
      </p:sp>
      <p:pic>
        <p:nvPicPr>
          <p:cNvPr id="31" name="Prós B · Sensor Hall 2" descr="/tmp/claude-0/-home-claude/dd4db180-c8d8-51b1-b549-3a5e3e44c9d0/scratchpad/deck/assets/ic_FaPlus_g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6520" y="3118104"/>
            <a:ext cx="182880" cy="182880"/>
          </a:xfrm>
          <a:prstGeom prst="rect">
            <a:avLst/>
          </a:prstGeom>
        </p:spPr>
      </p:pic>
      <p:sp>
        <p:nvSpPr>
          <p:cNvPr id="32" name="Text 20"/>
          <p:cNvSpPr txBox="1"/>
          <p:nvPr/>
        </p:nvSpPr>
        <p:spPr>
          <a:xfrm>
            <a:off x="6766560" y="3044952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Compacto: sem bielas, tudo no eixo</a:t>
            </a:r>
            <a:endParaRPr lang="en-US" sz="1400" dirty="0"/>
          </a:p>
        </p:txBody>
      </p:sp>
      <p:pic>
        <p:nvPicPr>
          <p:cNvPr id="33" name="Prós B · Sensor Hall 3" descr="/tmp/claude-0/-home-claude/dd4db180-c8d8-51b1-b549-3a5e3e44c9d0/scratchpad/deck/assets/ic_FaPlus_g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6520" y="3483864"/>
            <a:ext cx="182880" cy="182880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6766560" y="3410712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Ganho, offset e sentido programáveis</a:t>
            </a:r>
            <a:endParaRPr lang="en-US" sz="1400" dirty="0"/>
          </a:p>
        </p:txBody>
      </p:sp>
      <p:pic>
        <p:nvPicPr>
          <p:cNvPr id="35" name="Prós B · Sensor Hall 4" descr="/tmp/claude-0/-home-claude/dd4db180-c8d8-51b1-b549-3a5e3e44c9d0/scratchpad/deck/assets/ic_FaPlus_g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46520" y="3849624"/>
            <a:ext cx="182880" cy="182880"/>
          </a:xfrm>
          <a:prstGeom prst="rect">
            <a:avLst/>
          </a:prstGeom>
        </p:spPr>
      </p:pic>
      <p:sp>
        <p:nvSpPr>
          <p:cNvPr id="36" name="Text 22"/>
          <p:cNvSpPr txBox="1"/>
          <p:nvPr/>
        </p:nvSpPr>
        <p:spPr>
          <a:xfrm>
            <a:off x="6766560" y="3776472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MLX90316 com diagnóstico interno</a:t>
            </a:r>
            <a:endParaRPr lang="en-US" sz="1400" dirty="0"/>
          </a:p>
        </p:txBody>
      </p:sp>
      <p:sp>
        <p:nvSpPr>
          <p:cNvPr id="37" name="Text 23"/>
          <p:cNvSpPr txBox="1"/>
          <p:nvPr/>
        </p:nvSpPr>
        <p:spPr>
          <a:xfrm>
            <a:off x="6428232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Contras</a:t>
            </a:r>
            <a:endParaRPr lang="en-US" sz="1300" dirty="0"/>
          </a:p>
        </p:txBody>
      </p:sp>
      <p:pic>
        <p:nvPicPr>
          <p:cNvPr id="38" name="Contras B · Sensor Hall 1" descr="/tmp/claude-0/-home-claude/dd4db180-c8d8-51b1-b549-3a5e3e44c9d0/scratchpad/deck/assets/ic_FaMinus_a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46520" y="4626864"/>
            <a:ext cx="182880" cy="182880"/>
          </a:xfrm>
          <a:prstGeom prst="rect">
            <a:avLst/>
          </a:prstGeom>
        </p:spPr>
      </p:pic>
      <p:sp>
        <p:nvSpPr>
          <p:cNvPr id="39" name="Text 24"/>
          <p:cNvSpPr txBox="1"/>
          <p:nvPr/>
        </p:nvSpPr>
        <p:spPr>
          <a:xfrm>
            <a:off x="6766560" y="4553712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1° de folga no ímã = 5 p.p. de erro</a:t>
            </a:r>
            <a:endParaRPr lang="en-US" sz="1400" dirty="0"/>
          </a:p>
        </p:txBody>
      </p:sp>
      <p:pic>
        <p:nvPicPr>
          <p:cNvPr id="40" name="Contras B · Sensor Hall 2" descr="/tmp/claude-0/-home-claude/dd4db180-c8d8-51b1-b549-3a5e3e44c9d0/scratchpad/deck/assets/ic_FaMinus_a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46520" y="4992624"/>
            <a:ext cx="182880" cy="182880"/>
          </a:xfrm>
          <a:prstGeom prst="rect">
            <a:avLst/>
          </a:prstGeom>
        </p:spPr>
      </p:pic>
      <p:sp>
        <p:nvSpPr>
          <p:cNvPr id="41" name="Text 25"/>
          <p:cNvSpPr txBox="1"/>
          <p:nvPr/>
        </p:nvSpPr>
        <p:spPr>
          <a:xfrm>
            <a:off x="6766560" y="4919472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Exige programação e teste de verificação</a:t>
            </a:r>
            <a:endParaRPr lang="en-US" sz="1400" dirty="0"/>
          </a:p>
        </p:txBody>
      </p:sp>
      <p:pic>
        <p:nvPicPr>
          <p:cNvPr id="42" name="Contras B · Sensor Hall 3" descr="/tmp/claude-0/-home-claude/dd4db180-c8d8-51b1-b549-3a5e3e44c9d0/scratchpad/deck/assets/ic_FaMinus_a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46520" y="5358384"/>
            <a:ext cx="182880" cy="182880"/>
          </a:xfrm>
          <a:prstGeom prst="rect">
            <a:avLst/>
          </a:prstGeom>
        </p:spPr>
      </p:pic>
      <p:sp>
        <p:nvSpPr>
          <p:cNvPr id="43" name="Text 26"/>
          <p:cNvSpPr txBox="1"/>
          <p:nvPr/>
        </p:nvSpPr>
        <p:spPr>
          <a:xfrm>
            <a:off x="6766560" y="5285232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Sensível a campo externo e ao entreferro</a:t>
            </a:r>
            <a:endParaRPr lang="en-US" sz="1400" dirty="0"/>
          </a:p>
        </p:txBody>
      </p:sp>
      <p:pic>
        <p:nvPicPr>
          <p:cNvPr id="44" name="Contras B · Sensor Hall 4" descr="/tmp/claude-0/-home-claude/dd4db180-c8d8-51b1-b549-3a5e3e44c9d0/scratchpad/deck/assets/ic_FaMinus_a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46520" y="5724144"/>
            <a:ext cx="182880" cy="182880"/>
          </a:xfrm>
          <a:prstGeom prst="rect">
            <a:avLst/>
          </a:prstGeom>
        </p:spPr>
      </p:pic>
      <p:sp>
        <p:nvSpPr>
          <p:cNvPr id="45" name="Text 27"/>
          <p:cNvSpPr txBox="1"/>
          <p:nvPr/>
        </p:nvSpPr>
        <p:spPr>
          <a:xfrm>
            <a:off x="6766560" y="5650992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AS5600: faixa mínima de 18°, perto dos 20°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11430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Próximos passos</a:t>
            </a:r>
            <a:endParaRPr lang="en-US" sz="4000" dirty="0"/>
          </a:p>
        </p:txBody>
      </p:sp>
      <p:sp>
        <p:nvSpPr>
          <p:cNvPr id="3" name="número 1"/>
          <p:cNvSpPr/>
          <p:nvPr/>
        </p:nvSpPr>
        <p:spPr>
          <a:xfrm>
            <a:off x="548640" y="2194560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número texto 1"/>
          <p:cNvSpPr txBox="1"/>
          <p:nvPr/>
        </p:nvSpPr>
        <p:spPr>
          <a:xfrm>
            <a:off x="548640" y="2194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2157984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Confirmar o curso angular real do pedal e o comprimento entre centros do KPM12J</a:t>
            </a:r>
            <a:endParaRPr lang="en-US" sz="1700" dirty="0"/>
          </a:p>
        </p:txBody>
      </p:sp>
      <p:sp>
        <p:nvSpPr>
          <p:cNvPr id="6" name="número 2"/>
          <p:cNvSpPr/>
          <p:nvPr/>
        </p:nvSpPr>
        <p:spPr>
          <a:xfrm>
            <a:off x="548640" y="2944368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número texto 2"/>
          <p:cNvSpPr txBox="1"/>
          <p:nvPr/>
        </p:nvSpPr>
        <p:spPr>
          <a:xfrm>
            <a:off x="548640" y="29443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90779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Ajustar a PDM para comparar % de curso (ganho e offset no APPS 2) ou mover a checagem para o firmware</a:t>
            </a:r>
            <a:endParaRPr lang="en-US" sz="1700" dirty="0"/>
          </a:p>
        </p:txBody>
      </p:sp>
      <p:sp>
        <p:nvSpPr>
          <p:cNvPr id="9" name="número 3"/>
          <p:cNvSpPr/>
          <p:nvPr/>
        </p:nvSpPr>
        <p:spPr>
          <a:xfrm>
            <a:off x="548640" y="3694176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número texto 3"/>
          <p:cNvSpPr txBox="1"/>
          <p:nvPr/>
        </p:nvSpPr>
        <p:spPr>
          <a:xfrm>
            <a:off x="548640" y="36941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65760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Bancada Hall: AS5600 com ímã travado no eixo, medindo folga e repetibilidade em ciclos</a:t>
            </a:r>
            <a:endParaRPr lang="en-US" sz="1700" dirty="0"/>
          </a:p>
        </p:txBody>
      </p:sp>
      <p:sp>
        <p:nvSpPr>
          <p:cNvPr id="12" name="número 4"/>
          <p:cNvSpPr/>
          <p:nvPr/>
        </p:nvSpPr>
        <p:spPr>
          <a:xfrm>
            <a:off x="548640" y="4443984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número texto 4"/>
          <p:cNvSpPr txBox="1"/>
          <p:nvPr/>
        </p:nvSpPr>
        <p:spPr>
          <a:xfrm>
            <a:off x="548640" y="44439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40740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Provocar nas duas arquiteturas as falhas da revisão e registrar no ETC Systems Form</a:t>
            </a:r>
            <a:endParaRPr lang="en-US" sz="1700" dirty="0"/>
          </a:p>
        </p:txBody>
      </p:sp>
      <p:sp>
        <p:nvSpPr>
          <p:cNvPr id="15" name="número 5"/>
          <p:cNvSpPr/>
          <p:nvPr/>
        </p:nvSpPr>
        <p:spPr>
          <a:xfrm>
            <a:off x="548640" y="5193792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número texto 5"/>
          <p:cNvSpPr txBox="1"/>
          <p:nvPr/>
        </p:nvSpPr>
        <p:spPr>
          <a:xfrm>
            <a:off x="548640" y="51937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5157216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Escolher a arquitetura com os dados de bancada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rmula UFMG">
  <a:themeElements>
    <a:clrScheme name="Formula UFMG">
      <a:dk1>
        <a:srgbClr val="08093A"/>
      </a:dk1>
      <a:lt1>
        <a:srgbClr val="FFFFFF"/>
      </a:lt1>
      <a:dk2>
        <a:srgbClr val="4A4D6E"/>
      </a:dk2>
      <a:lt2>
        <a:srgbClr val="EEF0F8"/>
      </a:lt2>
      <a:accent1>
        <a:srgbClr val="0000FE"/>
      </a:accent1>
      <a:accent2>
        <a:srgbClr val="D0313A"/>
      </a:accent2>
      <a:accent3>
        <a:srgbClr val="2B8A3E"/>
      </a:accent3>
      <a:accent4>
        <a:srgbClr val="B86E00"/>
      </a:accent4>
      <a:accent5>
        <a:srgbClr val="8A8DAE"/>
      </a:accent5>
      <a:accent6>
        <a:srgbClr val="FBEAEA"/>
      </a:accent6>
      <a:hlink>
        <a:srgbClr val="0000FE"/>
      </a:hlink>
      <a:folHlink>
        <a:srgbClr val="4A4D6E"/>
      </a:folHlink>
    </a:clrScheme>
    <a:fontScheme name="Formula UFMG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Formula UFMG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APPS 2026 — arquitetura dos sensores</dc:title>
  <dc:subject>PptxGenJS Presentation</dc:subject>
  <dc:creator>Vinicius Gonçalves</dc:creator>
  <cp:lastModifiedBy>Vinicius Gonçalves</cp:lastModifiedBy>
  <cp:revision>1</cp:revision>
  <dcterms:created xsi:type="dcterms:W3CDTF">2026-10-09T20:02:14Z</dcterms:created>
  <dcterms:modified xsi:type="dcterms:W3CDTF">2026-10-09T20:02:14Z</dcterms:modified>
</cp:coreProperties>
</file>